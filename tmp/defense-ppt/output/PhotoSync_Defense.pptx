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9e32dfc224355" /><Relationship Type="http://schemas.openxmlformats.org/officeDocument/2006/relationships/extended-properties" Target="/docProps/app.xml" Id="R4ec35d8213db4559" /><Relationship Type="http://schemas.openxmlformats.org/officeDocument/2006/relationships/officeDocument" Target="/ppt/presentation.xml" Id="R107ae98710b7437e" /></Relationships>
</file>

<file path=ppt/presentation.xml><?xml version="1.0" encoding="utf-8"?>
<p:presentation xmlns:p="http://schemas.openxmlformats.org/presentationml/2006/main">
  <p:sldMasterIdLst>
    <p:sldMasterId xmlns:r="http://schemas.openxmlformats.org/officeDocument/2006/relationships" id="2147483648" r:id="R104d76816c3d46f3"/>
  </p:sldMasterIdLst>
  <p:notesMasterIdLst>
    <p:notesMasterId xmlns:r="http://schemas.openxmlformats.org/officeDocument/2006/relationships" r:id="R95a7b55e5ea3425b"/>
  </p:notesMasterIdLst>
  <p:sldIdLst>
    <p:sldId xmlns:r="http://schemas.openxmlformats.org/officeDocument/2006/relationships" id="256" r:id="R915b9782dcbb40de"/>
    <p:sldId xmlns:r="http://schemas.openxmlformats.org/officeDocument/2006/relationships" id="257" r:id="R02ca962ba4f74fa7"/>
    <p:sldId xmlns:r="http://schemas.openxmlformats.org/officeDocument/2006/relationships" id="258" r:id="R18d3e1e8d3d14794"/>
    <p:sldId xmlns:r="http://schemas.openxmlformats.org/officeDocument/2006/relationships" id="259" r:id="Rded38e195569495c"/>
    <p:sldId xmlns:r="http://schemas.openxmlformats.org/officeDocument/2006/relationships" id="260" r:id="Rd6015ae9bc034249"/>
    <p:sldId xmlns:r="http://schemas.openxmlformats.org/officeDocument/2006/relationships" id="261" r:id="R401f450b39fa4d07"/>
    <p:sldId xmlns:r="http://schemas.openxmlformats.org/officeDocument/2006/relationships" id="262" r:id="R84fb6358afea448e"/>
    <p:sldId xmlns:r="http://schemas.openxmlformats.org/officeDocument/2006/relationships" id="263" r:id="Rc6251b24dfe3445a"/>
    <p:sldId xmlns:r="http://schemas.openxmlformats.org/officeDocument/2006/relationships" id="264" r:id="Rfb10619dc4db4afd"/>
    <p:sldId xmlns:r="http://schemas.openxmlformats.org/officeDocument/2006/relationships" id="265" r:id="R5d8498509fa14609"/>
    <p:sldId xmlns:r="http://schemas.openxmlformats.org/officeDocument/2006/relationships" id="266" r:id="R87189d551df54f15"/>
    <p:sldId xmlns:r="http://schemas.openxmlformats.org/officeDocument/2006/relationships" id="267" r:id="R48ae7b4e95684c46"/>
    <p:sldId xmlns:r="http://schemas.openxmlformats.org/officeDocument/2006/relationships" id="268" r:id="Rc9602958ad3046ba"/>
    <p:sldId xmlns:r="http://schemas.openxmlformats.org/officeDocument/2006/relationships" id="269" r:id="R65b81f7b15db44c7"/>
    <p:sldId xmlns:r="http://schemas.openxmlformats.org/officeDocument/2006/relationships" id="270" r:id="R1d460ef635e447ea"/>
    <p:sldId xmlns:r="http://schemas.openxmlformats.org/officeDocument/2006/relationships" id="271" r:id="Ref39d535cb9e44d3"/>
    <p:sldId xmlns:r="http://schemas.openxmlformats.org/officeDocument/2006/relationships" id="272" r:id="R4d7a9a53210545f0"/>
    <p:sldId xmlns:r="http://schemas.openxmlformats.org/officeDocument/2006/relationships" id="273" r:id="Rdb78400c83924ce9"/>
    <p:sldId xmlns:r="http://schemas.openxmlformats.org/officeDocument/2006/relationships" id="274" r:id="R9bde9039e94643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448e2b256a4b48" /><Relationship Type="http://schemas.openxmlformats.org/officeDocument/2006/relationships/slideMaster" Target="/ppt/slideMasters/slideMaster1.xml" Id="R104d76816c3d46f3" /><Relationship Type="http://schemas.openxmlformats.org/officeDocument/2006/relationships/notesMaster" Target="/ppt/notesMasters/notesMaster1.xml" Id="R95a7b55e5ea3425b" /><Relationship Type="http://schemas.openxmlformats.org/officeDocument/2006/relationships/presProps" Target="/ppt/presProps.xml" Id="Ref918ea5a19e49aa" /><Relationship Type="http://schemas.openxmlformats.org/officeDocument/2006/relationships/tableStyles" Target="/ppt/tableStyles.xml" Id="Radf613a506674482" /><Relationship Type="http://schemas.openxmlformats.org/officeDocument/2006/relationships/slide" Target="/ppt/slides/slide1.xml" Id="R915b9782dcbb40de" /><Relationship Type="http://schemas.openxmlformats.org/officeDocument/2006/relationships/slide" Target="/ppt/slides/slide2.xml" Id="R02ca962ba4f74fa7" /><Relationship Type="http://schemas.openxmlformats.org/officeDocument/2006/relationships/slide" Target="/ppt/slides/slide3.xml" Id="R18d3e1e8d3d14794" /><Relationship Type="http://schemas.openxmlformats.org/officeDocument/2006/relationships/slide" Target="/ppt/slides/slide4.xml" Id="Rded38e195569495c" /><Relationship Type="http://schemas.openxmlformats.org/officeDocument/2006/relationships/slide" Target="/ppt/slides/slide5.xml" Id="Rd6015ae9bc034249" /><Relationship Type="http://schemas.openxmlformats.org/officeDocument/2006/relationships/slide" Target="/ppt/slides/slide6.xml" Id="R401f450b39fa4d07" /><Relationship Type="http://schemas.openxmlformats.org/officeDocument/2006/relationships/slide" Target="/ppt/slides/slide7.xml" Id="R84fb6358afea448e" /><Relationship Type="http://schemas.openxmlformats.org/officeDocument/2006/relationships/slide" Target="/ppt/slides/slide8.xml" Id="Rc6251b24dfe3445a" /><Relationship Type="http://schemas.openxmlformats.org/officeDocument/2006/relationships/slide" Target="/ppt/slides/slide9.xml" Id="Rfb10619dc4db4afd" /><Relationship Type="http://schemas.openxmlformats.org/officeDocument/2006/relationships/slide" Target="/ppt/slides/slide10.xml" Id="R5d8498509fa14609" /><Relationship Type="http://schemas.openxmlformats.org/officeDocument/2006/relationships/slide" Target="/ppt/slides/slide11.xml" Id="R87189d551df54f15" /><Relationship Type="http://schemas.openxmlformats.org/officeDocument/2006/relationships/slide" Target="/ppt/slides/slide12.xml" Id="R48ae7b4e95684c46" /><Relationship Type="http://schemas.openxmlformats.org/officeDocument/2006/relationships/slide" Target="/ppt/slides/slide13.xml" Id="Rc9602958ad3046ba" /><Relationship Type="http://schemas.openxmlformats.org/officeDocument/2006/relationships/slide" Target="/ppt/slides/slide14.xml" Id="R65b81f7b15db44c7" /><Relationship Type="http://schemas.openxmlformats.org/officeDocument/2006/relationships/slide" Target="/ppt/slides/slide15.xml" Id="R1d460ef635e447ea" /><Relationship Type="http://schemas.openxmlformats.org/officeDocument/2006/relationships/slide" Target="/ppt/slides/slide16.xml" Id="Ref39d535cb9e44d3" /><Relationship Type="http://schemas.openxmlformats.org/officeDocument/2006/relationships/slide" Target="/ppt/slides/slide17.xml" Id="R4d7a9a53210545f0" /><Relationship Type="http://schemas.openxmlformats.org/officeDocument/2006/relationships/slide" Target="/ppt/slides/slide18.xml" Id="Rdb78400c83924ce9" /><Relationship Type="http://schemas.openxmlformats.org/officeDocument/2006/relationships/slide" Target="/ppt/slides/slide19.xml" Id="R9bde9039e94643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7380ebd3ec4e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fe95bae5ce4a94" /><Relationship Type="http://schemas.openxmlformats.org/officeDocument/2006/relationships/notesMaster" Target="/ppt/notesMasters/notesMaster1.xml" Id="Rc7d51acc498d4d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9ee46d9a2247c7" /><Relationship Type="http://schemas.openxmlformats.org/officeDocument/2006/relationships/notesMaster" Target="/ppt/notesMasters/notesMaster1.xml" Id="R3be25ab4b82848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cbe616d945439f" /><Relationship Type="http://schemas.openxmlformats.org/officeDocument/2006/relationships/notesMaster" Target="/ppt/notesMasters/notesMaster1.xml" Id="Rafae7db1edf24b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35ee718984794" /><Relationship Type="http://schemas.openxmlformats.org/officeDocument/2006/relationships/notesMaster" Target="/ppt/notesMasters/notesMaster1.xml" Id="Rb9c8b262fd0e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461d554c85482b" /><Relationship Type="http://schemas.openxmlformats.org/officeDocument/2006/relationships/notesMaster" Target="/ppt/notesMasters/notesMaster1.xml" Id="R0ed21fbad58342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512221382749af" /><Relationship Type="http://schemas.openxmlformats.org/officeDocument/2006/relationships/notesMaster" Target="/ppt/notesMasters/notesMaster1.xml" Id="R770ea058802f4d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139b6e6c854154" /><Relationship Type="http://schemas.openxmlformats.org/officeDocument/2006/relationships/notesMaster" Target="/ppt/notesMasters/notesMaster1.xml" Id="R5f8f168c3ab448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909bf44b64005" /><Relationship Type="http://schemas.openxmlformats.org/officeDocument/2006/relationships/notesMaster" Target="/ppt/notesMasters/notesMaster1.xml" Id="Ra68fb3c6f4754b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3a4468a09a496d" /><Relationship Type="http://schemas.openxmlformats.org/officeDocument/2006/relationships/notesMaster" Target="/ppt/notesMasters/notesMaster1.xml" Id="Rfad69299d10242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237ebd298f4a34" /><Relationship Type="http://schemas.openxmlformats.org/officeDocument/2006/relationships/notesMaster" Target="/ppt/notesMasters/notesMaster1.xml" Id="R32106f846b8241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c334da0605459b" /><Relationship Type="http://schemas.openxmlformats.org/officeDocument/2006/relationships/notesMaster" Target="/ppt/notesMasters/notesMaster1.xml" Id="R68db16821ddd48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4755eb866543fc" /><Relationship Type="http://schemas.openxmlformats.org/officeDocument/2006/relationships/notesMaster" Target="/ppt/notesMasters/notesMaster1.xml" Id="Rf37bc0f7348b47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8886c54c114fe6" /><Relationship Type="http://schemas.openxmlformats.org/officeDocument/2006/relationships/notesMaster" Target="/ppt/notesMasters/notesMaster1.xml" Id="R136058cbf22c44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6868677a5047e2" /><Relationship Type="http://schemas.openxmlformats.org/officeDocument/2006/relationships/notesMaster" Target="/ppt/notesMasters/notesMaster1.xml" Id="R77d199f8a44f40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6838abf1224ab2" /><Relationship Type="http://schemas.openxmlformats.org/officeDocument/2006/relationships/notesMaster" Target="/ppt/notesMasters/notesMaster1.xml" Id="R54292c124bdd47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b1866208ba4441" /><Relationship Type="http://schemas.openxmlformats.org/officeDocument/2006/relationships/notesMaster" Target="/ppt/notesMasters/notesMaster1.xml" Id="R89ff68c4153242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53ef6b49cc4f1c" /><Relationship Type="http://schemas.openxmlformats.org/officeDocument/2006/relationships/notesMaster" Target="/ppt/notesMasters/notesMaster1.xml" Id="R8e464834affd410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4e6684bdae481f" /><Relationship Type="http://schemas.openxmlformats.org/officeDocument/2006/relationships/notesMaster" Target="/ppt/notesMasters/notesMaster1.xml" Id="R5d696e7dcb55452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f22c7ee72744951" /><Relationship Type="http://schemas.openxmlformats.org/officeDocument/2006/relationships/notesMaster" Target="/ppt/notesMasters/notesMaster1.xml" Id="Reabfa823f6d848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PhotoSync helps clients request photography sessions and photographers manage studio bookings. The cover is an AI generated concept illustration, not an actual screenshot of the application. The image was generated with the built-in image generation tool for this deck.</a:t>
            </a:r>
          </a:p>
          <a:p xmlns:a="http://schemas.openxmlformats.org/drawingml/2006/main">
            <a:r>
              <a:t/>
            </a:r>
          </a:p>
          <a:p xmlns:a="http://schemas.openxmlformats.org/drawingml/2006/main">
            <a:r>
              <a:t>Implementation sources in C:/Users/kirlg/PhotoSync: package.json; app.json; src/app; docs/supabase-setup.md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system as a photography booking application. Do not describe it as automatic camera roll backup or completed gallery delivery. The problem statement follows the implemented workflow and is not a claim of measured business impact.</a:t>
            </a:r>
          </a:p>
          <a:p xmlns:a="http://schemas.openxmlformats.org/drawingml/2006/main">
            <a:r>
              <a:t/>
            </a:r>
          </a:p>
          <a:p xmlns:a="http://schemas.openxmlformats.org/drawingml/2006/main">
            <a:r>
              <a:t>Implementation sources in C:/Users/kirlg/PhotoSync: src/app/(client); src/app/photographer; src/services/bookings.ts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workflow needs that the system addresses. Avoid claiming survey results, time savings or revenue improvements because the source does not provide those measurements.</a:t>
            </a:r>
          </a:p>
          <a:p xmlns:a="http://schemas.openxmlformats.org/drawingml/2006/main">
            <a:r>
              <a:t/>
            </a:r>
          </a:p>
          <a:p xmlns:a="http://schemas.openxmlformats.org/drawingml/2006/main">
            <a:r>
              <a:t>Implementation sources in C:/Users/kirlg/PhotoSync: src/services/bookings.ts; src/services/calendar.ts; src/services/notifications.ts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implementation uses Supabase. The sibling PhotoSyncMobile repository is a local prototype and must not be used as evidence of main application payment or client verification features.</a:t>
            </a:r>
          </a:p>
          <a:p xmlns:a="http://schemas.openxmlformats.org/drawingml/2006/main">
            <a:r>
              <a:t/>
            </a:r>
          </a:p>
          <a:p xmlns:a="http://schemas.openxmlformats.org/drawingml/2006/main">
            <a:r>
              <a:t>Implementation sources in C:/Users/kirlg/PhotoSync: src/services; docs/supabase-setup.md; C:/Users/kirlg/PhotoSyncMobile/README.md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Versions shown are declared in the package configuration. Supabase hosts the PostgreSQL backend. There is no separate Express server in the main repository.</a:t>
            </a:r>
          </a:p>
          <a:p xmlns:a="http://schemas.openxmlformats.org/drawingml/2006/main">
            <a:r>
              <a:t/>
            </a:r>
          </a:p>
          <a:p xmlns:a="http://schemas.openxmlformats.org/drawingml/2006/main">
            <a:r>
              <a:t>Implementation sources in C:/Users/kirlg/PhotoSync: package.json; src/lib/supabase.ts; supabase/functions/send-push-notification/index.ts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request sequence from screen to service to Supabase. The public client key is usable in the mobile app because backend policies protect data. The Edge Function uses a server credential for notification dispatch, which must never be bundled into the client.</a:t>
            </a:r>
          </a:p>
          <a:p xmlns:a="http://schemas.openxmlformats.org/drawingml/2006/main">
            <a:r>
              <a:t/>
            </a:r>
          </a:p>
          <a:p xmlns:a="http://schemas.openxmlformats.org/drawingml/2006/main">
            <a:r>
              <a:t>Implementation sources in C:/Users/kirlg/PhotoSync: src/lib/supabase.ts; src/services; docs/supabase-rls-hardening.sql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profile belongs to one auth user. A client has many bookings. A service has many packages and bookings reference the selected offering. Bookings have history entries and recipient notifications. UUID keys connect the records.</a:t>
            </a:r>
          </a:p>
          <a:p xmlns:a="http://schemas.openxmlformats.org/drawingml/2006/main">
            <a:r>
              <a:t/>
            </a:r>
          </a:p>
          <a:p xmlns:a="http://schemas.openxmlformats.org/drawingml/2006/main">
            <a:r>
              <a:t>Implementation sources in C:/Users/kirlg/PhotoSync: docs/supabase-schema.sql; docs/supabase-services-packages.sql; docs/supabase-push-notifications.sql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Signup normalizes email and username and requires six password characters. The database trigger assigns client to new profiles. Admin promotion is trusted database work. Android native Google sign-in uses a nonce and Supabase token exchange. The generic platform implementation reports Android availability.</a:t>
            </a:r>
          </a:p>
          <a:p xmlns:a="http://schemas.openxmlformats.org/drawingml/2006/main">
            <a:r>
              <a:t/>
            </a:r>
          </a:p>
          <a:p xmlns:a="http://schemas.openxmlformats.org/drawingml/2006/main">
            <a:r>
              <a:t>Implementation sources in C:/Users/kirlg/PhotoSync: src/services/auth.ts; src/services/google-auth.android.ts; src/services/google-auth.ts; docs/supabase-rls-hardening.sql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this sequence. The draft lives in module memory. Submission rechecks the selected package, authentication, current rules, working hours and availability. A successful request is pending, not confirmed. A price change requires review again.</a:t>
            </a:r>
          </a:p>
          <a:p xmlns:a="http://schemas.openxmlformats.org/drawingml/2006/main">
            <a:r>
              <a:t/>
            </a:r>
          </a:p>
          <a:p xmlns:a="http://schemas.openxmlformats.org/drawingml/2006/main">
            <a:r>
              <a:t>Implementation sources in C:/Users/kirlg/PhotoSync: src/app/(client)/book; src/services/booking-draft.ts; src/services/bookings.ts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actions are conditional on expected previous status. Confirmation and rejection require pending. Completion requires confirmed. Rejection includes reason handling. The Clients route uses placeholder records, so do not present it as a live client directory.</a:t>
            </a:r>
          </a:p>
          <a:p xmlns:a="http://schemas.openxmlformats.org/drawingml/2006/main">
            <a:r>
              <a:t/>
            </a:r>
          </a:p>
          <a:p xmlns:a="http://schemas.openxmlformats.org/drawingml/2006/main">
            <a:r>
              <a:t>Implementation sources in C:/Users/kirlg/PhotoSync: src/services/admin-bookings.ts; src/app/photographer/requests/[id].tsx; src/app/photographer/clients.tsx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Cancellation currently allows the client own pending requests. Rescheduling pending or confirmed sessions returns the request to pending review. Expiration applies only to past due pending requests. The server clock uses Asia/Manila for expiration.</a:t>
            </a:r>
          </a:p>
          <a:p xmlns:a="http://schemas.openxmlformats.org/drawingml/2006/main">
            <a:r>
              <a:t/>
            </a:r>
          </a:p>
          <a:p xmlns:a="http://schemas.openxmlformats.org/drawingml/2006/main">
            <a:r>
              <a:t>Implementation sources in C:/Users/kirlg/PhotoSync: src/services/admin-bookings.ts; src/services/client-bookings.ts; docs/supabase-booking-expiration.sql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validates duration, minimum notice, buffered intervals, unavailable slots and working hours. Conditional writes prevent stale status actions. The PostgreSQL GiST exclusion constraint prevents overlapping confirmed intervals. This constraint does not implement every preparation buffer rule, and pending requests are not guaranteed reservations.</a:t>
            </a:r>
          </a:p>
          <a:p xmlns:a="http://schemas.openxmlformats.org/drawingml/2006/main">
            <a:r>
              <a:t/>
            </a:r>
          </a:p>
          <a:p xmlns:a="http://schemas.openxmlformats.org/drawingml/2006/main">
            <a:r>
              <a:t>Implementation sources in C:/Users/kirlg/PhotoSync: src/services/bookings.ts; src/services/admin-bookings.ts; docs/supabase-confirmed-booking-conflict-protection.sql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notification database row is separate from push delivery. The documented hourly database job creates next day reminders in Asia/Manila time, with duplicate prevention. The dispatcher uses get_active_push_tokens_for_user and sends through Expo. A sent count proves submission attempts rather than device display. The actual webhook, credentials and devices require separate verification.</a:t>
            </a:r>
          </a:p>
          <a:p xmlns:a="http://schemas.openxmlformats.org/drawingml/2006/main">
            <a:r>
              <a:t/>
            </a:r>
          </a:p>
          <a:p xmlns:a="http://schemas.openxmlformats.org/drawingml/2006/main">
            <a:r>
              <a:t>Implementation sources in C:/Users/kirlg/PhotoSync: src/services/notifications.ts; docs/supabase-scheduled-booking-reminders.sql; docs/supabase-reminder-schedule.sql; supabase/functions/send-push-notification/index.ts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RLS is the real authorization boundary. Both image buckets currently permit public reads, with restricted writes. AsyncStorage is the configured session adapter, not proof of secure hardware backed storage. PUSH_WEBHOOK_SECRET is enforced when configured. Some booking, history and notification writes occur in separate calls and are not one transaction.</a:t>
            </a:r>
          </a:p>
          <a:p xmlns:a="http://schemas.openxmlformats.org/drawingml/2006/main">
            <a:r>
              <a:t/>
            </a:r>
          </a:p>
          <a:p xmlns:a="http://schemas.openxmlformats.org/drawingml/2006/main">
            <a:r>
              <a:t>Implementation sources in C:/Users/kirlg/PhotoSync: docs/supabase-rls-hardening.sql; docs/supabase-profile-images.sql; docs/supabase-service-images.sql; src/lib/supabase.ts; supabase/functions/send-push-notification/index.ts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layer coalesces concurrent reads and uses request generations to discard stale results. The catalog still loads a complete snapshot in stable pages, so UI virtualization does not reduce total catalog snapshot size. Caches do not provide offline write synchronization.</a:t>
            </a:r>
          </a:p>
          <a:p xmlns:a="http://schemas.openxmlformats.org/drawingml/2006/main">
            <a:r>
              <a:t/>
            </a:r>
          </a:p>
          <a:p xmlns:a="http://schemas.openxmlformats.org/drawingml/2006/main">
            <a:r>
              <a:t>Implementation sources in C:/Users/kirlg/PhotoSync: docs/shared-service-optimization.md; src/services/booking-pages.ts; src/services/session-read-cache.ts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checks completed during preparation of the Word guide on October 9 2026. The JavaScript test run passed 473 tests with zero failures. TypeScript and Expo lint passed. SQL fixture checks and deployments described in October 7 notes are historical records and were not rerun for the deck. Physical device verification remains necessary.</a:t>
            </a:r>
          </a:p>
          <a:p xmlns:a="http://schemas.openxmlformats.org/drawingml/2006/main">
            <a:r>
              <a:t/>
            </a:r>
          </a:p>
          <a:p xmlns:a="http://schemas.openxmlformats.org/drawingml/2006/main">
            <a:r>
              <a:t>Implementation sources in C:/Users/kirlg/PhotoSync: scripts/*.test.cjs; docs/shared-service-optimization.md; docs/calendar-date-guards.md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when the panel asks about scope. The separate PhotoSyncMobile local prototype describes payment states and client verification, but that does not establish those functions in the main Supabase app. Some critical timezone helpers use local device dates, which warrants consistency testing. Other future improvements include transactional mutations and push receipt processing.</a:t>
            </a:r>
          </a:p>
          <a:p xmlns:a="http://schemas.openxmlformats.org/drawingml/2006/main">
            <a:r>
              <a:t/>
            </a:r>
          </a:p>
          <a:p xmlns:a="http://schemas.openxmlformats.org/drawingml/2006/main">
            <a:r>
              <a:t>Implementation sources in C:/Users/kirlg/PhotoSync: src/app/photographer/clients.tsx; src/services/google-auth.ts; src/services/booking-draft.ts; C:/Users/kirlg/PhotoSyncMobile/README.md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 a client and an admin account, a published package, a future date meeting minimum notice and a correct native build. Show the pending state, switch to the photographer, decide the request, then return to the client and refresh. Only show push and Google if the exact device configuration has been verified.</a:t>
            </a:r>
          </a:p>
          <a:p xmlns:a="http://schemas.openxmlformats.org/drawingml/2006/main">
            <a:r>
              <a:t/>
            </a:r>
          </a:p>
          <a:p xmlns:a="http://schemas.openxmlformats.org/drawingml/2006/main">
            <a:r>
              <a:t>Implementation sources in C:/Users/kirlg/PhotoSync: src/app/(client)/book; src/app/photographer/requests; src/services/auth.ts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actual completed scope. PhotoSync connects a mobile booking workflow to a shared backend and studio management tools. Invite questions about access policies, conflicting requests, reminders and cache freshness. Do not claim performance measurements or deployment guarantees absent from the evidence.</a:t>
            </a:r>
          </a:p>
          <a:p xmlns:a="http://schemas.openxmlformats.org/drawingml/2006/main">
            <a:r>
              <a:t/>
            </a:r>
          </a:p>
          <a:p xmlns:a="http://schemas.openxmlformats.org/drawingml/2006/main">
            <a:r>
              <a:t>Implementation sources in C:/Users/kirlg/PhotoSync: src/services; docs/supabase-setup.md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bc2366b7364b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8b4910673647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dd91b3ea3145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653f661cd54e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fea859725247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1f01a2c04644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D60297-3C65-4CA1-B8DA-9D006087B7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49F817-69A2-4B2F-99E2-4D06917005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1F7F0F-E888-48E7-9C4A-9C85DACE791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8676B0-1715-492F-AF22-5EA4D9CE96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E54C97-6382-48D1-84EB-69B2F9AFED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066ECE-B0C5-4B4B-BE06-C3BEB14B4D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A4A36F-90F4-4C74-87E2-1060DAA77E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D5D3F8-FA1E-48C1-95B3-B153EF5AD3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7421C4-4D3A-4A6A-B2D6-9A276FD83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27A610-DBFA-4C96-83C6-777FB61F3B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60b2b9a5c94ee2" /><Relationship Type="http://schemas.openxmlformats.org/officeDocument/2006/relationships/slideLayout" Target="/ppt/slideLayouts/slideLayout1.xml" Id="Rad11c80017f7446d" /><Relationship Type="http://schemas.openxmlformats.org/officeDocument/2006/relationships/slideLayout" Target="/ppt/slideLayouts/slideLayout2.xml" Id="Rd1f65e3ad2f840c2" /><Relationship Type="http://schemas.openxmlformats.org/officeDocument/2006/relationships/slideLayout" Target="/ppt/slideLayouts/slideLayout3.xml" Id="R5c78e36332254abe" /><Relationship Type="http://schemas.openxmlformats.org/officeDocument/2006/relationships/slideLayout" Target="/ppt/slideLayouts/slideLayout4.xml" Id="R347172a47cec4240" /><Relationship Type="http://schemas.openxmlformats.org/officeDocument/2006/relationships/slideLayout" Target="/ppt/slideLayouts/slideLayout5.xml" Id="R99916e4664b04793" /><Relationship Type="http://schemas.openxmlformats.org/officeDocument/2006/relationships/slideLayout" Target="/ppt/slideLayouts/slideLayout6.xml" Id="R22a9b98fe0c145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11c80017f7446d"/>
    <p:sldLayoutId xmlns:r="http://schemas.openxmlformats.org/officeDocument/2006/relationships" id="2147483650" r:id="Rd1f65e3ad2f840c2"/>
    <p:sldLayoutId xmlns:r="http://schemas.openxmlformats.org/officeDocument/2006/relationships" id="2147483651" r:id="R5c78e36332254abe"/>
    <p:sldLayoutId xmlns:r="http://schemas.openxmlformats.org/officeDocument/2006/relationships" id="2147483652" r:id="R347172a47cec4240"/>
    <p:sldLayoutId xmlns:r="http://schemas.openxmlformats.org/officeDocument/2006/relationships" id="2147483653" r:id="R99916e4664b04793"/>
    <p:sldLayoutId xmlns:r="http://schemas.openxmlformats.org/officeDocument/2006/relationships" id="2147483654" r:id="R22a9b98fe0c145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38a2ebbe354d78" /><Relationship Type="http://schemas.openxmlformats.org/officeDocument/2006/relationships/image" Target="/ppt/media/image.png" Id="R61f18ccf30d941fc" /><Relationship Type="http://schemas.openxmlformats.org/officeDocument/2006/relationships/notesSlide" Target="/ppt/notesSlides/notesSlide1.xml" Id="Rc499a1c238c144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37512737a84bf1" /><Relationship Type="http://schemas.openxmlformats.org/officeDocument/2006/relationships/notesSlide" Target="/ppt/notesSlides/notesSlide2.xml" Id="Re6f8a84607e449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692a9aa98b40ca" /><Relationship Type="http://schemas.openxmlformats.org/officeDocument/2006/relationships/notesSlide" Target="/ppt/notesSlides/notesSlide3.xml" Id="Rccfbf145cc4b4a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913fbaf1947be" /><Relationship Type="http://schemas.openxmlformats.org/officeDocument/2006/relationships/notesSlide" Target="/ppt/notesSlides/notesSlide4.xml" Id="R9ecc179fe30149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d3db7ffc824598" /><Relationship Type="http://schemas.openxmlformats.org/officeDocument/2006/relationships/notesSlide" Target="/ppt/notesSlides/notesSlide5.xml" Id="Rde9bde7573b843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a663a1dc03475b" /><Relationship Type="http://schemas.openxmlformats.org/officeDocument/2006/relationships/notesSlide" Target="/ppt/notesSlides/notesSlide6.xml" Id="R2e2401eace4649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df401b88fc4a8e" /><Relationship Type="http://schemas.openxmlformats.org/officeDocument/2006/relationships/notesSlide" Target="/ppt/notesSlides/notesSlide7.xml" Id="R99cde6c8dc1043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81b2fc381d4592" /><Relationship Type="http://schemas.openxmlformats.org/officeDocument/2006/relationships/notesSlide" Target="/ppt/notesSlides/notesSlide8.xml" Id="R0daff30b801845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e528bf010e4e24" /><Relationship Type="http://schemas.openxmlformats.org/officeDocument/2006/relationships/notesSlide" Target="/ppt/notesSlides/notesSlide9.xml" Id="Rf8cbaec496dd48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5c63cbc30741a8" /><Relationship Type="http://schemas.openxmlformats.org/officeDocument/2006/relationships/notesSlide" Target="/ppt/notesSlides/notesSlide10.xml" Id="Ra7c3856949524a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a24a8c7412b419b" /><Relationship Type="http://schemas.openxmlformats.org/officeDocument/2006/relationships/notesSlide" Target="/ppt/notesSlides/notesSlide11.xml" Id="R52cddcb49b6f40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f91289ec5204847" /><Relationship Type="http://schemas.openxmlformats.org/officeDocument/2006/relationships/notesSlide" Target="/ppt/notesSlides/notesSlide12.xml" Id="R05f3a35889e048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977633274f41c0" /><Relationship Type="http://schemas.openxmlformats.org/officeDocument/2006/relationships/notesSlide" Target="/ppt/notesSlides/notesSlide13.xml" Id="R0b12eed2bcdb43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6b5fb1b2414586" /><Relationship Type="http://schemas.openxmlformats.org/officeDocument/2006/relationships/notesSlide" Target="/ppt/notesSlides/notesSlide14.xml" Id="Rc5c94eadebdd43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7df73e0c6e4671" /><Relationship Type="http://schemas.openxmlformats.org/officeDocument/2006/relationships/notesSlide" Target="/ppt/notesSlides/notesSlide15.xml" Id="R1803f28fe82d48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e4fccba5c6a4232" /><Relationship Type="http://schemas.openxmlformats.org/officeDocument/2006/relationships/notesSlide" Target="/ppt/notesSlides/notesSlide16.xml" Id="R39dd61c4ce444c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8f91f1928714850" /><Relationship Type="http://schemas.openxmlformats.org/officeDocument/2006/relationships/notesSlide" Target="/ppt/notesSlides/notesSlide17.xml" Id="Rff914766419541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b3dd1a77b934001" /><Relationship Type="http://schemas.openxmlformats.org/officeDocument/2006/relationships/notesSlide" Target="/ppt/notesSlides/notesSlide18.xml" Id="R1c0abf79f74549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0326432e5ca4065" /><Relationship Type="http://schemas.openxmlformats.org/officeDocument/2006/relationships/notesSlide" Target="/ppt/notesSlides/notesSlide19.xml" Id="Reb41d4fd24b4431b" /></Relationships>
</file>

<file path=ppt/slides/slide1.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19DC2F9-2BD3-472F-A9DE-24584C9A0DCB}"/>
              </a:ext>
            </a:extLst>
          </p:cNvPr>
          <p:cNvPicPr>
            <a:picLocks xmlns:a="http://schemas.openxmlformats.org/drawingml/2006/main" noChangeAspect="1"/>
          </p:cNvPicPr>
          <p:nvPr/>
        </p:nvPicPr>
        <p:blipFill>
          <a:blip xmlns:r="http://schemas.openxmlformats.org/officeDocument/2006/relationships" xmlns:a="http://schemas.openxmlformats.org/drawingml/2006/main" r:embed="R61f18ccf30d941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99F36F-4C9F-449F-BC0B-EEB0C7F07E6A}"/>
              </a:ext>
            </a:extLst>
          </p:cNvPr>
          <p:cNvSpPr>
            <a:spLocks xmlns:a="http://schemas.openxmlformats.org/drawingml/2006/main" noGrp="1"/>
          </p:cNvSpPr>
          <p:nvPr/>
        </p:nvSpPr>
        <p:spPr>
          <a:xfrm xmlns:a="http://schemas.openxmlformats.org/drawingml/2006/main">
            <a:off x="685800" y="1952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142C4C"/>
                </a:solidFill>
                <a:latin typeface="Calibri"/>
                <a:ea typeface="Calibri"/>
                <a:cs typeface="Calibri"/>
              </a:defRPr>
            </a:defPPr>
          </a:lstStyle>
          <a:p xmlns:a="http://schemas.openxmlformats.org/drawingml/2006/main">
            <a:pPr>
              <a:defRPr sz="6150" b="1">
                <a:solidFill>
                  <a:srgbClr val="142C4C"/>
                </a:solidFill>
                <a:latin typeface="Calibri"/>
                <a:ea typeface="Calibri"/>
                <a:cs typeface="Calibri"/>
              </a:defRPr>
            </a:pPr>
            <a:r>
              <a:rPr sz="6150" b="1">
                <a:solidFill>
                  <a:srgbClr val="142C4C"/>
                </a:solidFill>
                <a:latin typeface="Calibri"/>
                <a:ea typeface="Calibri"/>
                <a:cs typeface="Calibri"/>
              </a:rPr>
              <a:t>PhotoSync</a:t>
            </a:r>
          </a:p>
        </p:txBody>
      </p:sp>
      <p:sp>
        <p:nvSpPr>
          <p:cNvPr id="3" name="">
            <a:extLst xmlns:a="http://schemas.openxmlformats.org/drawingml/2006/main">
              <a:ext uri="{FF2B5EF4-FFF2-40B4-BE49-F238E27FC236}">
                <a16:creationId xmlns:a16="http://schemas.microsoft.com/office/drawing/2014/main" id="{E8DD3132-52FA-496D-90BE-36A4C0E0477A}"/>
              </a:ext>
            </a:extLst>
          </p:cNvPr>
          <p:cNvSpPr>
            <a:spLocks xmlns:a="http://schemas.openxmlformats.org/drawingml/2006/main" noGrp="1"/>
          </p:cNvSpPr>
          <p:nvPr/>
        </p:nvSpPr>
        <p:spPr>
          <a:xfrm xmlns:a="http://schemas.openxmlformats.org/drawingml/2006/main">
            <a:off x="723900" y="31051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142C4C"/>
                </a:solidFill>
                <a:latin typeface="Calibri"/>
                <a:ea typeface="Calibri"/>
                <a:cs typeface="Calibri"/>
              </a:defRPr>
            </a:defPPr>
          </a:lstStyle>
          <a:p xmlns:a="http://schemas.openxmlformats.org/drawingml/2006/main">
            <a:pPr>
              <a:defRPr sz="2925" b="0">
                <a:solidFill>
                  <a:srgbClr val="142C4C"/>
                </a:solidFill>
                <a:latin typeface="Calibri"/>
                <a:ea typeface="Calibri"/>
                <a:cs typeface="Calibri"/>
              </a:defRPr>
            </a:pPr>
            <a:r>
              <a:rPr sz="2925" b="0">
                <a:solidFill>
                  <a:srgbClr val="142C4C"/>
                </a:solidFill>
                <a:latin typeface="Calibri"/>
                <a:ea typeface="Calibri"/>
                <a:cs typeface="Calibri"/>
              </a:rPr>
              <a:t>Photography Studio</a:t>
            </a:r>
          </a:p>
          <a:p xmlns:a="http://schemas.openxmlformats.org/drawingml/2006/main">
            <a:pPr>
              <a:defRPr sz="2925" b="0">
                <a:solidFill>
                  <a:srgbClr val="142C4C"/>
                </a:solidFill>
                <a:latin typeface="Calibri"/>
                <a:ea typeface="Calibri"/>
                <a:cs typeface="Calibri"/>
              </a:defRPr>
            </a:pPr>
            <a:r>
              <a:rPr sz="2925" b="0">
                <a:solidFill>
                  <a:srgbClr val="142C4C"/>
                </a:solidFill>
                <a:latin typeface="Calibri"/>
                <a:ea typeface="Calibri"/>
                <a:cs typeface="Calibri"/>
              </a:rPr>
              <a:t>Booking System</a:t>
            </a:r>
          </a:p>
        </p:txBody>
      </p:sp>
      <p:sp>
        <p:nvSpPr>
          <p:cNvPr id="4" name="">
            <a:extLst xmlns:a="http://schemas.openxmlformats.org/drawingml/2006/main">
              <a:ext uri="{FF2B5EF4-FFF2-40B4-BE49-F238E27FC236}">
                <a16:creationId xmlns:a16="http://schemas.microsoft.com/office/drawing/2014/main" id="{C58E63FF-4900-4984-95BC-A78F37B515CF}"/>
              </a:ext>
            </a:extLst>
          </p:cNvPr>
          <p:cNvSpPr>
            <a:spLocks xmlns:a="http://schemas.openxmlformats.org/drawingml/2006/main" noGrp="1"/>
          </p:cNvSpPr>
          <p:nvPr/>
        </p:nvSpPr>
        <p:spPr>
          <a:xfrm xmlns:a="http://schemas.openxmlformats.org/drawingml/2006/main">
            <a:off x="742950" y="531495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84B"/>
                </a:solidFill>
                <a:latin typeface="Calibri"/>
                <a:ea typeface="Calibri"/>
                <a:cs typeface="Calibri"/>
              </a:defRPr>
            </a:defPPr>
          </a:lstStyle>
          <a:p xmlns:a="http://schemas.openxmlformats.org/drawingml/2006/main">
            <a:pPr>
              <a:defRPr sz="1800" b="0">
                <a:solidFill>
                  <a:srgbClr val="26384B"/>
                </a:solidFill>
                <a:latin typeface="Calibri"/>
                <a:ea typeface="Calibri"/>
                <a:cs typeface="Calibri"/>
              </a:defRPr>
            </a:pPr>
            <a:r>
              <a:rPr sz="1800" b="0">
                <a:solidFill>
                  <a:srgbClr val="26384B"/>
                </a:solidFill>
                <a:latin typeface="Calibri"/>
                <a:ea typeface="Calibri"/>
                <a:cs typeface="Calibri"/>
              </a:rPr>
              <a:t>Project Defense</a:t>
            </a:r>
          </a:p>
          <a:p xmlns:a="http://schemas.openxmlformats.org/drawingml/2006/main">
            <a:pPr>
              <a:defRPr sz="1800" b="0">
                <a:solidFill>
                  <a:srgbClr val="26384B"/>
                </a:solidFill>
                <a:latin typeface="Calibri"/>
                <a:ea typeface="Calibri"/>
                <a:cs typeface="Calibri"/>
              </a:defRPr>
            </a:pPr>
            <a:r>
              <a:rPr sz="1800" b="0">
                <a:solidFill>
                  <a:srgbClr val="26384B"/>
                </a:solidFill>
                <a:latin typeface="Calibri"/>
                <a:ea typeface="Calibri"/>
                <a:cs typeface="Calibri"/>
              </a:rPr>
              <a:t>October 10 2026</a:t>
            </a:r>
          </a:p>
        </p:txBody>
      </p:sp>
    </p:spTree>
    <p:extLst>
      <p:ext uri="{BB962C8B-B14F-4D97-AF65-F5344CB8AC3E}">
        <p14:creationId xmlns:p14="http://schemas.microsoft.com/office/powerpoint/2010/main" val="1365532659"/>
      </p:ext>
    </p:extLst>
  </p:cSld>
</p:sld>
</file>

<file path=ppt/slides/slide2.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DFEEB2-1781-46FE-8F90-FC781603AD9C}"/>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Project overview</a:t>
            </a:r>
          </a:p>
        </p:txBody>
      </p:sp>
      <p:sp>
        <p:nvSpPr>
          <p:cNvPr id="2" name="">
            <a:extLst xmlns:a="http://schemas.openxmlformats.org/drawingml/2006/main">
              <a:ext uri="{FF2B5EF4-FFF2-40B4-BE49-F238E27FC236}">
                <a16:creationId xmlns:a16="http://schemas.microsoft.com/office/drawing/2014/main" id="{9EFED123-3083-48A6-8FC2-740ACA3B18EF}"/>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02</a:t>
            </a:r>
          </a:p>
        </p:txBody>
      </p:sp>
      <p:sp>
        <p:nvSpPr>
          <p:cNvPr id="3" name="">
            <a:extLst xmlns:a="http://schemas.openxmlformats.org/drawingml/2006/main">
              <a:ext uri="{FF2B5EF4-FFF2-40B4-BE49-F238E27FC236}">
                <a16:creationId xmlns:a16="http://schemas.microsoft.com/office/drawing/2014/main" id="{B0D7528B-B409-422E-81AB-8FC6717D3705}"/>
              </a:ext>
            </a:extLst>
          </p:cNvPr>
          <p:cNvSpPr>
            <a:spLocks xmlns:a="http://schemas.openxmlformats.org/drawingml/2006/main" noGrp="1"/>
          </p:cNvSpPr>
          <p:nvPr/>
        </p:nvSpPr>
        <p:spPr>
          <a:xfrm xmlns:a="http://schemas.openxmlformats.org/drawingml/2006/main">
            <a:off x="6858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Purpose</a:t>
            </a:r>
          </a:p>
        </p:txBody>
      </p:sp>
      <p:sp>
        <p:nvSpPr>
          <p:cNvPr id="4" name="">
            <a:extLst xmlns:a="http://schemas.openxmlformats.org/drawingml/2006/main">
              <a:ext uri="{FF2B5EF4-FFF2-40B4-BE49-F238E27FC236}">
                <a16:creationId xmlns:a16="http://schemas.microsoft.com/office/drawing/2014/main" id="{B8505B99-0851-4387-BECD-25659E2FF0D1}"/>
              </a:ext>
            </a:extLst>
          </p:cNvPr>
          <p:cNvSpPr>
            <a:spLocks xmlns:a="http://schemas.openxmlformats.org/drawingml/2006/main" noGrp="1"/>
          </p:cNvSpPr>
          <p:nvPr/>
        </p:nvSpPr>
        <p:spPr>
          <a:xfrm xmlns:a="http://schemas.openxmlformats.org/drawingml/2006/main">
            <a:off x="6858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Organize photography session requests and studio availability in one mobile application.</a:t>
            </a:r>
          </a:p>
        </p:txBody>
      </p:sp>
      <p:sp>
        <p:nvSpPr>
          <p:cNvPr id="5" name="">
            <a:extLst xmlns:a="http://schemas.openxmlformats.org/drawingml/2006/main">
              <a:ext uri="{FF2B5EF4-FFF2-40B4-BE49-F238E27FC236}">
                <a16:creationId xmlns:a16="http://schemas.microsoft.com/office/drawing/2014/main" id="{1534A9D5-42BF-4991-BF84-29F2C1E626F5}"/>
              </a:ext>
            </a:extLst>
          </p:cNvPr>
          <p:cNvSpPr>
            <a:spLocks xmlns:a="http://schemas.openxmlformats.org/drawingml/2006/main" noGrp="1"/>
          </p:cNvSpPr>
          <p:nvPr/>
        </p:nvSpPr>
        <p:spPr>
          <a:xfrm xmlns:a="http://schemas.openxmlformats.org/drawingml/2006/main">
            <a:off x="443865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Client</a:t>
            </a:r>
          </a:p>
        </p:txBody>
      </p:sp>
      <p:sp>
        <p:nvSpPr>
          <p:cNvPr id="6" name="">
            <a:extLst xmlns:a="http://schemas.openxmlformats.org/drawingml/2006/main">
              <a:ext uri="{FF2B5EF4-FFF2-40B4-BE49-F238E27FC236}">
                <a16:creationId xmlns:a16="http://schemas.microsoft.com/office/drawing/2014/main" id="{7A7758D7-5BDA-4B8C-AC6B-6EF97C0BA5F8}"/>
              </a:ext>
            </a:extLst>
          </p:cNvPr>
          <p:cNvSpPr>
            <a:spLocks xmlns:a="http://schemas.openxmlformats.org/drawingml/2006/main" noGrp="1"/>
          </p:cNvSpPr>
          <p:nvPr/>
        </p:nvSpPr>
        <p:spPr>
          <a:xfrm xmlns:a="http://schemas.openxmlformats.org/drawingml/2006/main">
            <a:off x="443865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Browse packages, request a schedule and track the studio decision.</a:t>
            </a:r>
          </a:p>
        </p:txBody>
      </p:sp>
      <p:sp>
        <p:nvSpPr>
          <p:cNvPr id="7" name="">
            <a:extLst xmlns:a="http://schemas.openxmlformats.org/drawingml/2006/main">
              <a:ext uri="{FF2B5EF4-FFF2-40B4-BE49-F238E27FC236}">
                <a16:creationId xmlns:a16="http://schemas.microsoft.com/office/drawing/2014/main" id="{DBDEE63E-D3BD-4B78-926B-F48310466B50}"/>
              </a:ext>
            </a:extLst>
          </p:cNvPr>
          <p:cNvSpPr>
            <a:spLocks xmlns:a="http://schemas.openxmlformats.org/drawingml/2006/main" noGrp="1"/>
          </p:cNvSpPr>
          <p:nvPr/>
        </p:nvSpPr>
        <p:spPr>
          <a:xfrm xmlns:a="http://schemas.openxmlformats.org/drawingml/2006/main">
            <a:off x="81915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Photographer</a:t>
            </a:r>
          </a:p>
        </p:txBody>
      </p:sp>
      <p:sp>
        <p:nvSpPr>
          <p:cNvPr id="8" name="">
            <a:extLst xmlns:a="http://schemas.openxmlformats.org/drawingml/2006/main">
              <a:ext uri="{FF2B5EF4-FFF2-40B4-BE49-F238E27FC236}">
                <a16:creationId xmlns:a16="http://schemas.microsoft.com/office/drawing/2014/main" id="{EAAC1187-FA33-45F4-9292-1EC03B4D1649}"/>
              </a:ext>
            </a:extLst>
          </p:cNvPr>
          <p:cNvSpPr>
            <a:spLocks xmlns:a="http://schemas.openxmlformats.org/drawingml/2006/main" noGrp="1"/>
          </p:cNvSpPr>
          <p:nvPr/>
        </p:nvSpPr>
        <p:spPr>
          <a:xfrm xmlns:a="http://schemas.openxmlformats.org/drawingml/2006/main">
            <a:off x="81915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Review requests, manage services and control available times.</a:t>
            </a:r>
          </a:p>
        </p:txBody>
      </p:sp>
    </p:spTree>
    <p:extLst>
      <p:ext uri="{BB962C8B-B14F-4D97-AF65-F5344CB8AC3E}">
        <p14:creationId xmlns:p14="http://schemas.microsoft.com/office/powerpoint/2010/main" val="1937406928"/>
      </p:ext>
    </p:extLst>
  </p:cSld>
</p:sld>
</file>

<file path=ppt/slides/slide3.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54BB25-93A2-4E65-B40C-27EEC162B91A}"/>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Booking coordination problem</a:t>
            </a:r>
          </a:p>
        </p:txBody>
      </p:sp>
      <p:sp>
        <p:nvSpPr>
          <p:cNvPr id="2" name="">
            <a:extLst xmlns:a="http://schemas.openxmlformats.org/drawingml/2006/main">
              <a:ext uri="{FF2B5EF4-FFF2-40B4-BE49-F238E27FC236}">
                <a16:creationId xmlns:a16="http://schemas.microsoft.com/office/drawing/2014/main" id="{9C4BE79E-4DB0-46BF-9CAC-6CD2523D49BA}"/>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03</a:t>
            </a:r>
          </a:p>
        </p:txBody>
      </p:sp>
      <p:sp>
        <p:nvSpPr>
          <p:cNvPr id="3" name="">
            <a:extLst xmlns:a="http://schemas.openxmlformats.org/drawingml/2006/main">
              <a:ext uri="{FF2B5EF4-FFF2-40B4-BE49-F238E27FC236}">
                <a16:creationId xmlns:a16="http://schemas.microsoft.com/office/drawing/2014/main" id="{90C724D6-23C4-4387-99D0-B061580C87EF}"/>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Package selection</a:t>
            </a:r>
          </a:p>
        </p:txBody>
      </p:sp>
      <p:sp>
        <p:nvSpPr>
          <p:cNvPr id="4" name="">
            <a:extLst xmlns:a="http://schemas.openxmlformats.org/drawingml/2006/main">
              <a:ext uri="{FF2B5EF4-FFF2-40B4-BE49-F238E27FC236}">
                <a16:creationId xmlns:a16="http://schemas.microsoft.com/office/drawing/2014/main" id="{F662FC09-5B10-4840-B843-9A2F67F70C8F}"/>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Clients need clear service details, prices and session requirements.</a:t>
            </a:r>
          </a:p>
        </p:txBody>
      </p:sp>
      <p:sp>
        <p:nvSpPr>
          <p:cNvPr id="5" name="">
            <a:extLst xmlns:a="http://schemas.openxmlformats.org/drawingml/2006/main">
              <a:ext uri="{FF2B5EF4-FFF2-40B4-BE49-F238E27FC236}">
                <a16:creationId xmlns:a16="http://schemas.microsoft.com/office/drawing/2014/main" id="{0981F1DC-BB21-4518-ADF8-311EF99FC1EB}"/>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Schedule coordination</a:t>
            </a:r>
          </a:p>
        </p:txBody>
      </p:sp>
      <p:sp>
        <p:nvSpPr>
          <p:cNvPr id="6" name="">
            <a:extLst xmlns:a="http://schemas.openxmlformats.org/drawingml/2006/main">
              <a:ext uri="{FF2B5EF4-FFF2-40B4-BE49-F238E27FC236}">
                <a16:creationId xmlns:a16="http://schemas.microsoft.com/office/drawing/2014/main" id="{AF1BF3AF-F490-4DFA-A0D3-E677652031DF}"/>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studio needs available windows and checks for overlapping sessions.</a:t>
            </a:r>
          </a:p>
        </p:txBody>
      </p:sp>
      <p:sp>
        <p:nvSpPr>
          <p:cNvPr id="7" name="">
            <a:extLst xmlns:a="http://schemas.openxmlformats.org/drawingml/2006/main">
              <a:ext uri="{FF2B5EF4-FFF2-40B4-BE49-F238E27FC236}">
                <a16:creationId xmlns:a16="http://schemas.microsoft.com/office/drawing/2014/main" id="{D1815C7F-0CB1-451B-9CF8-092497C5E656}"/>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Request tracking</a:t>
            </a:r>
          </a:p>
        </p:txBody>
      </p:sp>
      <p:sp>
        <p:nvSpPr>
          <p:cNvPr id="8" name="">
            <a:extLst xmlns:a="http://schemas.openxmlformats.org/drawingml/2006/main">
              <a:ext uri="{FF2B5EF4-FFF2-40B4-BE49-F238E27FC236}">
                <a16:creationId xmlns:a16="http://schemas.microsoft.com/office/drawing/2014/main" id="{4BE794B5-351E-4598-BEB0-F1DE48944292}"/>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Both sides need the same booking status and decision history.</a:t>
            </a:r>
          </a:p>
        </p:txBody>
      </p:sp>
      <p:sp>
        <p:nvSpPr>
          <p:cNvPr id="9" name="">
            <a:extLst xmlns:a="http://schemas.openxmlformats.org/drawingml/2006/main">
              <a:ext uri="{FF2B5EF4-FFF2-40B4-BE49-F238E27FC236}">
                <a16:creationId xmlns:a16="http://schemas.microsoft.com/office/drawing/2014/main" id="{C635814F-5463-42B7-9534-82FDC735314C}"/>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Communication</a:t>
            </a:r>
          </a:p>
        </p:txBody>
      </p:sp>
      <p:sp>
        <p:nvSpPr>
          <p:cNvPr id="10" name="">
            <a:extLst xmlns:a="http://schemas.openxmlformats.org/drawingml/2006/main">
              <a:ext uri="{FF2B5EF4-FFF2-40B4-BE49-F238E27FC236}">
                <a16:creationId xmlns:a16="http://schemas.microsoft.com/office/drawing/2014/main" id="{239D6F78-D00A-4071-BBC6-46F8E2D198CF}"/>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Clients and photographers need notifications about booking activity.</a:t>
            </a:r>
          </a:p>
        </p:txBody>
      </p:sp>
    </p:spTree>
    <p:extLst>
      <p:ext uri="{BB962C8B-B14F-4D97-AF65-F5344CB8AC3E}">
        <p14:creationId xmlns:p14="http://schemas.microsoft.com/office/powerpoint/2010/main" val="286818405"/>
      </p:ext>
    </p:extLst>
  </p:cSld>
</p:sld>
</file>

<file path=ppt/slides/slide4.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F05390-D78B-4283-9DC4-D0F9422063E0}"/>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System objectives</a:t>
            </a:r>
          </a:p>
        </p:txBody>
      </p:sp>
      <p:sp>
        <p:nvSpPr>
          <p:cNvPr id="2" name="">
            <a:extLst xmlns:a="http://schemas.openxmlformats.org/drawingml/2006/main">
              <a:ext uri="{FF2B5EF4-FFF2-40B4-BE49-F238E27FC236}">
                <a16:creationId xmlns:a16="http://schemas.microsoft.com/office/drawing/2014/main" id="{8E2B2A78-D8E5-462D-88FB-3779DDD89426}"/>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04</a:t>
            </a:r>
          </a:p>
        </p:txBody>
      </p:sp>
      <p:sp>
        <p:nvSpPr>
          <p:cNvPr id="3" name="">
            <a:extLst xmlns:a="http://schemas.openxmlformats.org/drawingml/2006/main">
              <a:ext uri="{FF2B5EF4-FFF2-40B4-BE49-F238E27FC236}">
                <a16:creationId xmlns:a16="http://schemas.microsoft.com/office/drawing/2014/main" id="{D0F3C29B-74E9-494D-A33C-227CFC92F25C}"/>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Client booking</a:t>
            </a:r>
          </a:p>
        </p:txBody>
      </p:sp>
      <p:sp>
        <p:nvSpPr>
          <p:cNvPr id="4" name="">
            <a:extLst xmlns:a="http://schemas.openxmlformats.org/drawingml/2006/main">
              <a:ext uri="{FF2B5EF4-FFF2-40B4-BE49-F238E27FC236}">
                <a16:creationId xmlns:a16="http://schemas.microsoft.com/office/drawing/2014/main" id="{265D7D78-93FF-404D-81A0-1310DD34F456}"/>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Support package, schedule, contact and review steps.</a:t>
            </a:r>
          </a:p>
        </p:txBody>
      </p:sp>
      <p:sp>
        <p:nvSpPr>
          <p:cNvPr id="5" name="">
            <a:extLst xmlns:a="http://schemas.openxmlformats.org/drawingml/2006/main">
              <a:ext uri="{FF2B5EF4-FFF2-40B4-BE49-F238E27FC236}">
                <a16:creationId xmlns:a16="http://schemas.microsoft.com/office/drawing/2014/main" id="{F388B530-11AD-42BD-B1A0-23996003381F}"/>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Studio control</a:t>
            </a:r>
          </a:p>
        </p:txBody>
      </p:sp>
      <p:sp>
        <p:nvSpPr>
          <p:cNvPr id="6" name="">
            <a:extLst xmlns:a="http://schemas.openxmlformats.org/drawingml/2006/main">
              <a:ext uri="{FF2B5EF4-FFF2-40B4-BE49-F238E27FC236}">
                <a16:creationId xmlns:a16="http://schemas.microsoft.com/office/drawing/2014/main" id="{D30C29EF-69A9-46AE-9405-FE43F5698963}"/>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Manage requests, catalog publication and calendar availability.</a:t>
            </a:r>
          </a:p>
        </p:txBody>
      </p:sp>
      <p:sp>
        <p:nvSpPr>
          <p:cNvPr id="7" name="">
            <a:extLst xmlns:a="http://schemas.openxmlformats.org/drawingml/2006/main">
              <a:ext uri="{FF2B5EF4-FFF2-40B4-BE49-F238E27FC236}">
                <a16:creationId xmlns:a16="http://schemas.microsoft.com/office/drawing/2014/main" id="{70895316-D583-4ACD-9370-2F7C848A3CE7}"/>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Access protection</a:t>
            </a:r>
          </a:p>
        </p:txBody>
      </p:sp>
      <p:sp>
        <p:nvSpPr>
          <p:cNvPr id="8" name="">
            <a:extLst xmlns:a="http://schemas.openxmlformats.org/drawingml/2006/main">
              <a:ext uri="{FF2B5EF4-FFF2-40B4-BE49-F238E27FC236}">
                <a16:creationId xmlns:a16="http://schemas.microsoft.com/office/drawing/2014/main" id="{6A9BAAA2-7999-4E38-8A49-BFBDF8F55EC4}"/>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Enforce client ownership and photographer permissions in the backend.</a:t>
            </a:r>
          </a:p>
        </p:txBody>
      </p:sp>
      <p:sp>
        <p:nvSpPr>
          <p:cNvPr id="9" name="">
            <a:extLst xmlns:a="http://schemas.openxmlformats.org/drawingml/2006/main">
              <a:ext uri="{FF2B5EF4-FFF2-40B4-BE49-F238E27FC236}">
                <a16:creationId xmlns:a16="http://schemas.microsoft.com/office/drawing/2014/main" id="{BF6C9621-9387-4309-BF26-62E5FA9F78BE}"/>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Consistent records</a:t>
            </a:r>
          </a:p>
        </p:txBody>
      </p:sp>
      <p:sp>
        <p:nvSpPr>
          <p:cNvPr id="10" name="">
            <a:extLst xmlns:a="http://schemas.openxmlformats.org/drawingml/2006/main">
              <a:ext uri="{FF2B5EF4-FFF2-40B4-BE49-F238E27FC236}">
                <a16:creationId xmlns:a16="http://schemas.microsoft.com/office/drawing/2014/main" id="{D7B06759-D1B2-41B2-BC78-03DAB6C8708E}"/>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Keep shared booking data, notifications and status history.</a:t>
            </a:r>
          </a:p>
        </p:txBody>
      </p:sp>
    </p:spTree>
    <p:extLst>
      <p:ext uri="{BB962C8B-B14F-4D97-AF65-F5344CB8AC3E}">
        <p14:creationId xmlns:p14="http://schemas.microsoft.com/office/powerpoint/2010/main" val="1454084456"/>
      </p:ext>
    </p:extLst>
  </p:cSld>
</p:sld>
</file>

<file path=ppt/slides/slide5.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D904F7-D76F-484B-8030-5EE686F6561B}"/>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Technology stack</a:t>
            </a:r>
          </a:p>
        </p:txBody>
      </p:sp>
      <p:sp>
        <p:nvSpPr>
          <p:cNvPr id="2" name="">
            <a:extLst xmlns:a="http://schemas.openxmlformats.org/drawingml/2006/main">
              <a:ext uri="{FF2B5EF4-FFF2-40B4-BE49-F238E27FC236}">
                <a16:creationId xmlns:a16="http://schemas.microsoft.com/office/drawing/2014/main" id="{988D4D01-7A91-4EA3-B0FD-CB517C22EA28}"/>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05</a:t>
            </a:r>
          </a:p>
        </p:txBody>
      </p:sp>
      <p:sp>
        <p:nvSpPr>
          <p:cNvPr id="3" name="">
            <a:extLst xmlns:a="http://schemas.openxmlformats.org/drawingml/2006/main">
              <a:ext uri="{FF2B5EF4-FFF2-40B4-BE49-F238E27FC236}">
                <a16:creationId xmlns:a16="http://schemas.microsoft.com/office/drawing/2014/main" id="{83E094C2-98DB-471E-9260-1096C086FD21}"/>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Mobile interface</a:t>
            </a:r>
          </a:p>
        </p:txBody>
      </p:sp>
      <p:sp>
        <p:nvSpPr>
          <p:cNvPr id="4" name="">
            <a:extLst xmlns:a="http://schemas.openxmlformats.org/drawingml/2006/main">
              <a:ext uri="{FF2B5EF4-FFF2-40B4-BE49-F238E27FC236}">
                <a16:creationId xmlns:a16="http://schemas.microsoft.com/office/drawing/2014/main" id="{E7544E46-B215-49CC-A8D5-5FA050784000}"/>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Expo SDK 57, React Native 0.86.3 and React 19.2.3</a:t>
            </a:r>
          </a:p>
        </p:txBody>
      </p:sp>
      <p:sp>
        <p:nvSpPr>
          <p:cNvPr id="5" name="">
            <a:extLst xmlns:a="http://schemas.openxmlformats.org/drawingml/2006/main">
              <a:ext uri="{FF2B5EF4-FFF2-40B4-BE49-F238E27FC236}">
                <a16:creationId xmlns:a16="http://schemas.microsoft.com/office/drawing/2014/main" id="{5382DB4D-24EA-4447-BFE3-A885848CA26C}"/>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Navigation and types</a:t>
            </a:r>
          </a:p>
        </p:txBody>
      </p:sp>
      <p:sp>
        <p:nvSpPr>
          <p:cNvPr id="6" name="">
            <a:extLst xmlns:a="http://schemas.openxmlformats.org/drawingml/2006/main">
              <a:ext uri="{FF2B5EF4-FFF2-40B4-BE49-F238E27FC236}">
                <a16:creationId xmlns:a16="http://schemas.microsoft.com/office/drawing/2014/main" id="{820D72CD-0AEF-4D47-AF07-FB6A9D9F698C}"/>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Expo Router with TypeScript</a:t>
            </a:r>
          </a:p>
        </p:txBody>
      </p:sp>
      <p:sp>
        <p:nvSpPr>
          <p:cNvPr id="7" name="">
            <a:extLst xmlns:a="http://schemas.openxmlformats.org/drawingml/2006/main">
              <a:ext uri="{FF2B5EF4-FFF2-40B4-BE49-F238E27FC236}">
                <a16:creationId xmlns:a16="http://schemas.microsoft.com/office/drawing/2014/main" id="{224F4A92-06C6-43E2-9317-EB72F58630DE}"/>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Backend</a:t>
            </a:r>
          </a:p>
        </p:txBody>
      </p:sp>
      <p:sp>
        <p:nvSpPr>
          <p:cNvPr id="8" name="">
            <a:extLst xmlns:a="http://schemas.openxmlformats.org/drawingml/2006/main">
              <a:ext uri="{FF2B5EF4-FFF2-40B4-BE49-F238E27FC236}">
                <a16:creationId xmlns:a16="http://schemas.microsoft.com/office/drawing/2014/main" id="{825E09E9-6E52-4403-92AF-68B90B3804FB}"/>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Supabase Auth, PostgreSQL, storage and database functions</a:t>
            </a:r>
          </a:p>
        </p:txBody>
      </p:sp>
      <p:sp>
        <p:nvSpPr>
          <p:cNvPr id="9" name="">
            <a:extLst xmlns:a="http://schemas.openxmlformats.org/drawingml/2006/main">
              <a:ext uri="{FF2B5EF4-FFF2-40B4-BE49-F238E27FC236}">
                <a16:creationId xmlns:a16="http://schemas.microsoft.com/office/drawing/2014/main" id="{1AF460E6-A3F2-4703-B43E-C22734DBB0DE}"/>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Push delivery</a:t>
            </a:r>
          </a:p>
        </p:txBody>
      </p:sp>
      <p:sp>
        <p:nvSpPr>
          <p:cNvPr id="10" name="">
            <a:extLst xmlns:a="http://schemas.openxmlformats.org/drawingml/2006/main">
              <a:ext uri="{FF2B5EF4-FFF2-40B4-BE49-F238E27FC236}">
                <a16:creationId xmlns:a16="http://schemas.microsoft.com/office/drawing/2014/main" id="{A93D917C-3B81-4BDF-862A-ADC32A8AFD97}"/>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Deno Edge Function and Expo Push Service</a:t>
            </a:r>
          </a:p>
        </p:txBody>
      </p:sp>
    </p:spTree>
    <p:extLst>
      <p:ext uri="{BB962C8B-B14F-4D97-AF65-F5344CB8AC3E}">
        <p14:creationId xmlns:p14="http://schemas.microsoft.com/office/powerpoint/2010/main" val="456048313"/>
      </p:ext>
    </p:extLst>
  </p:cSld>
</p:sld>
</file>

<file path=ppt/slides/slide6.xml><?xml version="1.0" encoding="utf-8"?>
<p:sld xmlns:p="http://schemas.openxmlformats.org/presentationml/2006/main">
  <p:cSld>
    <p:bg>
      <p:bgPr>
        <a:solidFill xmlns:a="http://schemas.openxmlformats.org/drawingml/2006/main">
          <a:srgbClr val="142C4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FF15E3-FECD-4F16-B42D-A157CDF41E62}"/>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Backend architecture</a:t>
            </a:r>
          </a:p>
        </p:txBody>
      </p:sp>
      <p:sp>
        <p:nvSpPr>
          <p:cNvPr id="2" name="">
            <a:extLst xmlns:a="http://schemas.openxmlformats.org/drawingml/2006/main">
              <a:ext uri="{FF2B5EF4-FFF2-40B4-BE49-F238E27FC236}">
                <a16:creationId xmlns:a16="http://schemas.microsoft.com/office/drawing/2014/main" id="{D22347E8-33D5-4DBF-B729-A860516E3DC8}"/>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C9DB"/>
                </a:solidFill>
                <a:latin typeface="Calibri"/>
                <a:ea typeface="Calibri"/>
                <a:cs typeface="Calibri"/>
              </a:defRPr>
            </a:defPPr>
          </a:lstStyle>
          <a:p xmlns:a="http://schemas.openxmlformats.org/drawingml/2006/main">
            <a:pPr>
              <a:defRPr sz="1200" b="0">
                <a:solidFill>
                  <a:srgbClr val="B8C9DB"/>
                </a:solidFill>
                <a:latin typeface="Calibri"/>
                <a:ea typeface="Calibri"/>
                <a:cs typeface="Calibri"/>
              </a:defRPr>
            </a:pPr>
            <a:r>
              <a:rPr sz="1200" b="0">
                <a:solidFill>
                  <a:srgbClr val="B8C9DB"/>
                </a:solidFill>
                <a:latin typeface="Calibri"/>
                <a:ea typeface="Calibri"/>
                <a:cs typeface="Calibri"/>
              </a:rPr>
              <a:t>06</a:t>
            </a:r>
          </a:p>
        </p:txBody>
      </p:sp>
      <p:sp>
        <p:nvSpPr>
          <p:cNvPr id="3" name="">
            <a:extLst xmlns:a="http://schemas.openxmlformats.org/drawingml/2006/main">
              <a:ext uri="{FF2B5EF4-FFF2-40B4-BE49-F238E27FC236}">
                <a16:creationId xmlns:a16="http://schemas.microsoft.com/office/drawing/2014/main" id="{B6541012-E923-4BF3-BE67-00DEC873876D}"/>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Mobile screens</a:t>
            </a:r>
          </a:p>
        </p:txBody>
      </p:sp>
      <p:sp>
        <p:nvSpPr>
          <p:cNvPr id="4" name="">
            <a:extLst xmlns:a="http://schemas.openxmlformats.org/drawingml/2006/main">
              <a:ext uri="{FF2B5EF4-FFF2-40B4-BE49-F238E27FC236}">
                <a16:creationId xmlns:a16="http://schemas.microsoft.com/office/drawing/2014/main" id="{92F7959B-550F-45B9-BD20-AE4873AE5AF8}"/>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8C9DB"/>
                </a:solidFill>
                <a:latin typeface="Calibri"/>
                <a:ea typeface="Calibri"/>
                <a:cs typeface="Calibri"/>
              </a:defRPr>
            </a:defPPr>
          </a:lstStyle>
          <a:p xmlns:a="http://schemas.openxmlformats.org/drawingml/2006/main">
            <a:pPr>
              <a:defRPr sz="2025" b="0">
                <a:solidFill>
                  <a:srgbClr val="B8C9DB"/>
                </a:solidFill>
                <a:latin typeface="Calibri"/>
                <a:ea typeface="Calibri"/>
                <a:cs typeface="Calibri"/>
              </a:defRPr>
            </a:pPr>
            <a:r>
              <a:rPr sz="2025" b="0">
                <a:solidFill>
                  <a:srgbClr val="B8C9DB"/>
                </a:solidFill>
                <a:latin typeface="Calibri"/>
                <a:ea typeface="Calibri"/>
                <a:cs typeface="Calibri"/>
              </a:rPr>
              <a:t>Screens call hooks and application services.</a:t>
            </a:r>
          </a:p>
        </p:txBody>
      </p:sp>
      <p:sp>
        <p:nvSpPr>
          <p:cNvPr id="5" name="">
            <a:extLst xmlns:a="http://schemas.openxmlformats.org/drawingml/2006/main">
              <a:ext uri="{FF2B5EF4-FFF2-40B4-BE49-F238E27FC236}">
                <a16:creationId xmlns:a16="http://schemas.microsoft.com/office/drawing/2014/main" id="{DD124348-C5AD-4AFF-A691-04BA3522670A}"/>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Application services</a:t>
            </a:r>
          </a:p>
        </p:txBody>
      </p:sp>
      <p:sp>
        <p:nvSpPr>
          <p:cNvPr id="6" name="">
            <a:extLst xmlns:a="http://schemas.openxmlformats.org/drawingml/2006/main">
              <a:ext uri="{FF2B5EF4-FFF2-40B4-BE49-F238E27FC236}">
                <a16:creationId xmlns:a16="http://schemas.microsoft.com/office/drawing/2014/main" id="{72B5A836-5D57-41E7-9522-DDEC7705418E}"/>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8C9DB"/>
                </a:solidFill>
                <a:latin typeface="Calibri"/>
                <a:ea typeface="Calibri"/>
                <a:cs typeface="Calibri"/>
              </a:defRPr>
            </a:defPPr>
          </a:lstStyle>
          <a:p xmlns:a="http://schemas.openxmlformats.org/drawingml/2006/main">
            <a:pPr>
              <a:defRPr sz="2025" b="0">
                <a:solidFill>
                  <a:srgbClr val="B8C9DB"/>
                </a:solidFill>
                <a:latin typeface="Calibri"/>
                <a:ea typeface="Calibri"/>
                <a:cs typeface="Calibri"/>
              </a:defRPr>
            </a:pPr>
            <a:r>
              <a:rPr sz="2025" b="0">
                <a:solidFill>
                  <a:srgbClr val="B8C9DB"/>
                </a:solidFill>
                <a:latin typeface="Calibri"/>
                <a:ea typeface="Calibri"/>
                <a:cs typeface="Calibri"/>
              </a:rPr>
              <a:t>Validate inputs and send authenticated table queries or RPC calls.</a:t>
            </a:r>
          </a:p>
        </p:txBody>
      </p:sp>
      <p:sp>
        <p:nvSpPr>
          <p:cNvPr id="7" name="">
            <a:extLst xmlns:a="http://schemas.openxmlformats.org/drawingml/2006/main">
              <a:ext uri="{FF2B5EF4-FFF2-40B4-BE49-F238E27FC236}">
                <a16:creationId xmlns:a16="http://schemas.microsoft.com/office/drawing/2014/main" id="{5A7867BD-097C-484B-8C6E-423915759EC2}"/>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Supabase</a:t>
            </a:r>
          </a:p>
        </p:txBody>
      </p:sp>
      <p:sp>
        <p:nvSpPr>
          <p:cNvPr id="8" name="">
            <a:extLst xmlns:a="http://schemas.openxmlformats.org/drawingml/2006/main">
              <a:ext uri="{FF2B5EF4-FFF2-40B4-BE49-F238E27FC236}">
                <a16:creationId xmlns:a16="http://schemas.microsoft.com/office/drawing/2014/main" id="{EE067DA1-3655-432E-ADA0-E401B32042E3}"/>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8C9DB"/>
                </a:solidFill>
                <a:latin typeface="Calibri"/>
                <a:ea typeface="Calibri"/>
                <a:cs typeface="Calibri"/>
              </a:defRPr>
            </a:defPPr>
          </a:lstStyle>
          <a:p xmlns:a="http://schemas.openxmlformats.org/drawingml/2006/main">
            <a:pPr>
              <a:defRPr sz="2025" b="0">
                <a:solidFill>
                  <a:srgbClr val="B8C9DB"/>
                </a:solidFill>
                <a:latin typeface="Calibri"/>
                <a:ea typeface="Calibri"/>
                <a:cs typeface="Calibri"/>
              </a:defRPr>
            </a:pPr>
            <a:r>
              <a:rPr sz="2025" b="0">
                <a:solidFill>
                  <a:srgbClr val="B8C9DB"/>
                </a:solidFill>
                <a:latin typeface="Calibri"/>
                <a:ea typeface="Calibri"/>
                <a:cs typeface="Calibri"/>
              </a:rPr>
              <a:t>Authenticates users and applies database policies and constraints.</a:t>
            </a:r>
          </a:p>
        </p:txBody>
      </p:sp>
      <p:sp>
        <p:nvSpPr>
          <p:cNvPr id="9" name="">
            <a:extLst xmlns:a="http://schemas.openxmlformats.org/drawingml/2006/main">
              <a:ext uri="{FF2B5EF4-FFF2-40B4-BE49-F238E27FC236}">
                <a16:creationId xmlns:a16="http://schemas.microsoft.com/office/drawing/2014/main" id="{C20F8842-1AE8-463F-9A54-8B8AF1E1300D}"/>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Shared state</a:t>
            </a:r>
          </a:p>
        </p:txBody>
      </p:sp>
      <p:sp>
        <p:nvSpPr>
          <p:cNvPr id="10" name="">
            <a:extLst xmlns:a="http://schemas.openxmlformats.org/drawingml/2006/main">
              <a:ext uri="{FF2B5EF4-FFF2-40B4-BE49-F238E27FC236}">
                <a16:creationId xmlns:a16="http://schemas.microsoft.com/office/drawing/2014/main" id="{49B0A48C-CAC7-42B4-91AC-7A2EDC882914}"/>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8C9DB"/>
                </a:solidFill>
                <a:latin typeface="Calibri"/>
                <a:ea typeface="Calibri"/>
                <a:cs typeface="Calibri"/>
              </a:defRPr>
            </a:defPPr>
          </a:lstStyle>
          <a:p xmlns:a="http://schemas.openxmlformats.org/drawingml/2006/main">
            <a:pPr>
              <a:defRPr sz="2025" b="0">
                <a:solidFill>
                  <a:srgbClr val="B8C9DB"/>
                </a:solidFill>
                <a:latin typeface="Calibri"/>
                <a:ea typeface="Calibri"/>
                <a:cs typeface="Calibri"/>
              </a:defRPr>
            </a:pPr>
            <a:r>
              <a:rPr sz="2025" b="0">
                <a:solidFill>
                  <a:srgbClr val="B8C9DB"/>
                </a:solidFill>
                <a:latin typeface="Calibri"/>
                <a:ea typeface="Calibri"/>
                <a:cs typeface="Calibri"/>
              </a:rPr>
              <a:t>Services return results and invalidate affected screen caches.</a:t>
            </a:r>
          </a:p>
        </p:txBody>
      </p:sp>
    </p:spTree>
    <p:extLst>
      <p:ext uri="{BB962C8B-B14F-4D97-AF65-F5344CB8AC3E}">
        <p14:creationId xmlns:p14="http://schemas.microsoft.com/office/powerpoint/2010/main" val="2013998186"/>
      </p:ext>
    </p:extLst>
  </p:cSld>
</p:sld>
</file>

<file path=ppt/slides/slide7.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618E86-A442-4289-8D99-84DA8F45877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Database relationships</a:t>
            </a:r>
          </a:p>
        </p:txBody>
      </p:sp>
      <p:sp>
        <p:nvSpPr>
          <p:cNvPr id="2" name="">
            <a:extLst xmlns:a="http://schemas.openxmlformats.org/drawingml/2006/main">
              <a:ext uri="{FF2B5EF4-FFF2-40B4-BE49-F238E27FC236}">
                <a16:creationId xmlns:a16="http://schemas.microsoft.com/office/drawing/2014/main" id="{747E6084-6052-4DE2-A0AE-381C6C9B1684}"/>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07</a:t>
            </a:r>
          </a:p>
        </p:txBody>
      </p:sp>
      <p:sp>
        <p:nvSpPr>
          <p:cNvPr id="3" name="">
            <a:extLst xmlns:a="http://schemas.openxmlformats.org/drawingml/2006/main">
              <a:ext uri="{FF2B5EF4-FFF2-40B4-BE49-F238E27FC236}">
                <a16:creationId xmlns:a16="http://schemas.microsoft.com/office/drawing/2014/main" id="{3844BFC3-D920-4D00-8222-84F04DC3E35E}"/>
              </a:ext>
            </a:extLst>
          </p:cNvPr>
          <p:cNvSpPr>
            <a:spLocks xmlns:a="http://schemas.openxmlformats.org/drawingml/2006/main" noGrp="1"/>
          </p:cNvSpPr>
          <p:nvPr/>
        </p:nvSpPr>
        <p:spPr>
          <a:xfrm xmlns:a="http://schemas.openxmlformats.org/drawingml/2006/main">
            <a:off x="6858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Identity</a:t>
            </a:r>
          </a:p>
        </p:txBody>
      </p:sp>
      <p:sp>
        <p:nvSpPr>
          <p:cNvPr id="4" name="">
            <a:extLst xmlns:a="http://schemas.openxmlformats.org/drawingml/2006/main">
              <a:ext uri="{FF2B5EF4-FFF2-40B4-BE49-F238E27FC236}">
                <a16:creationId xmlns:a16="http://schemas.microsoft.com/office/drawing/2014/main" id="{F0F218E8-AB11-4A37-984D-3E5EA486AA70}"/>
              </a:ext>
            </a:extLst>
          </p:cNvPr>
          <p:cNvSpPr>
            <a:spLocks xmlns:a="http://schemas.openxmlformats.org/drawingml/2006/main" noGrp="1"/>
          </p:cNvSpPr>
          <p:nvPr/>
        </p:nvSpPr>
        <p:spPr>
          <a:xfrm xmlns:a="http://schemas.openxmlformats.org/drawingml/2006/main">
            <a:off x="6858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auth.users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profiles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User account and trusted role</a:t>
            </a:r>
          </a:p>
        </p:txBody>
      </p:sp>
      <p:sp>
        <p:nvSpPr>
          <p:cNvPr id="5" name="">
            <a:extLst xmlns:a="http://schemas.openxmlformats.org/drawingml/2006/main">
              <a:ext uri="{FF2B5EF4-FFF2-40B4-BE49-F238E27FC236}">
                <a16:creationId xmlns:a16="http://schemas.microsoft.com/office/drawing/2014/main" id="{E05D31A2-5B22-4E2B-9A3B-938E99911A88}"/>
              </a:ext>
            </a:extLst>
          </p:cNvPr>
          <p:cNvSpPr>
            <a:spLocks xmlns:a="http://schemas.openxmlformats.org/drawingml/2006/main" noGrp="1"/>
          </p:cNvSpPr>
          <p:nvPr/>
        </p:nvSpPr>
        <p:spPr>
          <a:xfrm xmlns:a="http://schemas.openxmlformats.org/drawingml/2006/main">
            <a:off x="443865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Booking</a:t>
            </a:r>
          </a:p>
        </p:txBody>
      </p:sp>
      <p:sp>
        <p:nvSpPr>
          <p:cNvPr id="6" name="">
            <a:extLst xmlns:a="http://schemas.openxmlformats.org/drawingml/2006/main">
              <a:ext uri="{FF2B5EF4-FFF2-40B4-BE49-F238E27FC236}">
                <a16:creationId xmlns:a16="http://schemas.microsoft.com/office/drawing/2014/main" id="{19E5776D-4A6D-4543-8BC4-29F4A4090B0C}"/>
              </a:ext>
            </a:extLst>
          </p:cNvPr>
          <p:cNvSpPr>
            <a:spLocks xmlns:a="http://schemas.openxmlformats.org/drawingml/2006/main" noGrp="1"/>
          </p:cNvSpPr>
          <p:nvPr/>
        </p:nvSpPr>
        <p:spPr>
          <a:xfrm xmlns:a="http://schemas.openxmlformats.org/drawingml/2006/main">
            <a:off x="443865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services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packages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bookings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time_slots</a:t>
            </a:r>
          </a:p>
        </p:txBody>
      </p:sp>
      <p:sp>
        <p:nvSpPr>
          <p:cNvPr id="7" name="">
            <a:extLst xmlns:a="http://schemas.openxmlformats.org/drawingml/2006/main">
              <a:ext uri="{FF2B5EF4-FFF2-40B4-BE49-F238E27FC236}">
                <a16:creationId xmlns:a16="http://schemas.microsoft.com/office/drawing/2014/main" id="{2F68E020-1D4A-4035-83BB-6908D1D0A62E}"/>
              </a:ext>
            </a:extLst>
          </p:cNvPr>
          <p:cNvSpPr>
            <a:spLocks xmlns:a="http://schemas.openxmlformats.org/drawingml/2006/main" noGrp="1"/>
          </p:cNvSpPr>
          <p:nvPr/>
        </p:nvSpPr>
        <p:spPr>
          <a:xfrm xmlns:a="http://schemas.openxmlformats.org/drawingml/2006/main">
            <a:off x="81915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Supporting records</a:t>
            </a:r>
          </a:p>
        </p:txBody>
      </p:sp>
      <p:sp>
        <p:nvSpPr>
          <p:cNvPr id="8" name="">
            <a:extLst xmlns:a="http://schemas.openxmlformats.org/drawingml/2006/main">
              <a:ext uri="{FF2B5EF4-FFF2-40B4-BE49-F238E27FC236}">
                <a16:creationId xmlns:a16="http://schemas.microsoft.com/office/drawing/2014/main" id="{CFC655DD-90CB-4FB1-BA08-9F534A619AFB}"/>
              </a:ext>
            </a:extLst>
          </p:cNvPr>
          <p:cNvSpPr>
            <a:spLocks xmlns:a="http://schemas.openxmlformats.org/drawingml/2006/main" noGrp="1"/>
          </p:cNvSpPr>
          <p:nvPr/>
        </p:nvSpPr>
        <p:spPr>
          <a:xfrm xmlns:a="http://schemas.openxmlformats.org/drawingml/2006/main">
            <a:off x="81915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notifications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booking_status_history</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audit_logs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studio_settings</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push_tokens</a:t>
            </a:r>
          </a:p>
        </p:txBody>
      </p:sp>
    </p:spTree>
    <p:extLst>
      <p:ext uri="{BB962C8B-B14F-4D97-AF65-F5344CB8AC3E}">
        <p14:creationId xmlns:p14="http://schemas.microsoft.com/office/powerpoint/2010/main" val="1457420395"/>
      </p:ext>
    </p:extLst>
  </p:cSld>
</p:sld>
</file>

<file path=ppt/slides/slide8.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A2D544-AD69-4BA4-8B05-14F558ED9F49}"/>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Authentication and roles</a:t>
            </a:r>
          </a:p>
        </p:txBody>
      </p:sp>
      <p:sp>
        <p:nvSpPr>
          <p:cNvPr id="2" name="">
            <a:extLst xmlns:a="http://schemas.openxmlformats.org/drawingml/2006/main">
              <a:ext uri="{FF2B5EF4-FFF2-40B4-BE49-F238E27FC236}">
                <a16:creationId xmlns:a16="http://schemas.microsoft.com/office/drawing/2014/main" id="{5F2E0807-8D9F-49D7-8EFB-3322D2EF2D8C}"/>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08</a:t>
            </a:r>
          </a:p>
        </p:txBody>
      </p:sp>
      <p:sp>
        <p:nvSpPr>
          <p:cNvPr id="3" name="">
            <a:extLst xmlns:a="http://schemas.openxmlformats.org/drawingml/2006/main">
              <a:ext uri="{FF2B5EF4-FFF2-40B4-BE49-F238E27FC236}">
                <a16:creationId xmlns:a16="http://schemas.microsoft.com/office/drawing/2014/main" id="{29CC14D2-36F3-4591-ACFE-74E2E1A27E08}"/>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Account access</a:t>
            </a:r>
          </a:p>
        </p:txBody>
      </p:sp>
      <p:sp>
        <p:nvSpPr>
          <p:cNvPr id="4" name="">
            <a:extLst xmlns:a="http://schemas.openxmlformats.org/drawingml/2006/main">
              <a:ext uri="{FF2B5EF4-FFF2-40B4-BE49-F238E27FC236}">
                <a16:creationId xmlns:a16="http://schemas.microsoft.com/office/drawing/2014/main" id="{46D12579-581F-450D-A9B6-864454D2F8FC}"/>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Email or username login, registration and password recovery</a:t>
            </a:r>
          </a:p>
        </p:txBody>
      </p:sp>
      <p:sp>
        <p:nvSpPr>
          <p:cNvPr id="5" name="">
            <a:extLst xmlns:a="http://schemas.openxmlformats.org/drawingml/2006/main">
              <a:ext uri="{FF2B5EF4-FFF2-40B4-BE49-F238E27FC236}">
                <a16:creationId xmlns:a16="http://schemas.microsoft.com/office/drawing/2014/main" id="{2385D106-96E8-412F-984F-C288F8FA32A8}"/>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Client role</a:t>
            </a:r>
          </a:p>
        </p:txBody>
      </p:sp>
      <p:sp>
        <p:nvSpPr>
          <p:cNvPr id="6" name="">
            <a:extLst xmlns:a="http://schemas.openxmlformats.org/drawingml/2006/main">
              <a:ext uri="{FF2B5EF4-FFF2-40B4-BE49-F238E27FC236}">
                <a16:creationId xmlns:a16="http://schemas.microsoft.com/office/drawing/2014/main" id="{AF094858-CCFC-499D-9241-5036FD07E0F9}"/>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Own profile, own bookings and recipient notifications</a:t>
            </a:r>
          </a:p>
        </p:txBody>
      </p:sp>
      <p:sp>
        <p:nvSpPr>
          <p:cNvPr id="7" name="">
            <a:extLst xmlns:a="http://schemas.openxmlformats.org/drawingml/2006/main">
              <a:ext uri="{FF2B5EF4-FFF2-40B4-BE49-F238E27FC236}">
                <a16:creationId xmlns:a16="http://schemas.microsoft.com/office/drawing/2014/main" id="{84B7F991-C2CB-4F9B-BC6B-7630D7F88EB5}"/>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Photographer role</a:t>
            </a:r>
          </a:p>
        </p:txBody>
      </p:sp>
      <p:sp>
        <p:nvSpPr>
          <p:cNvPr id="8" name="">
            <a:extLst xmlns:a="http://schemas.openxmlformats.org/drawingml/2006/main">
              <a:ext uri="{FF2B5EF4-FFF2-40B4-BE49-F238E27FC236}">
                <a16:creationId xmlns:a16="http://schemas.microsoft.com/office/drawing/2014/main" id="{C9AD5EE0-968E-4D55-9892-214402F29B4F}"/>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Studio requests, calendar, catalog and settings</a:t>
            </a:r>
          </a:p>
        </p:txBody>
      </p:sp>
      <p:sp>
        <p:nvSpPr>
          <p:cNvPr id="9" name="">
            <a:extLst xmlns:a="http://schemas.openxmlformats.org/drawingml/2006/main">
              <a:ext uri="{FF2B5EF4-FFF2-40B4-BE49-F238E27FC236}">
                <a16:creationId xmlns:a16="http://schemas.microsoft.com/office/drawing/2014/main" id="{BBBEDC0C-D6FB-42EA-ADD9-C16FC5EE7783}"/>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Google sign-in</a:t>
            </a:r>
          </a:p>
        </p:txBody>
      </p:sp>
      <p:sp>
        <p:nvSpPr>
          <p:cNvPr id="10" name="">
            <a:extLst xmlns:a="http://schemas.openxmlformats.org/drawingml/2006/main">
              <a:ext uri="{FF2B5EF4-FFF2-40B4-BE49-F238E27FC236}">
                <a16:creationId xmlns:a16="http://schemas.microsoft.com/office/drawing/2014/main" id="{D088B43F-FDDE-402C-A94F-4F49F9815AE1}"/>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Native Android account chooser with Supabase authentication</a:t>
            </a:r>
          </a:p>
        </p:txBody>
      </p:sp>
    </p:spTree>
    <p:extLst>
      <p:ext uri="{BB962C8B-B14F-4D97-AF65-F5344CB8AC3E}">
        <p14:creationId xmlns:p14="http://schemas.microsoft.com/office/powerpoint/2010/main" val="1297337798"/>
      </p:ext>
    </p:extLst>
  </p:cSld>
</p:sld>
</file>

<file path=ppt/slides/slide9.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E458E0-193E-4F34-A0E5-F7781A2A9899}"/>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Client booking flow</a:t>
            </a:r>
          </a:p>
        </p:txBody>
      </p:sp>
      <p:sp>
        <p:nvSpPr>
          <p:cNvPr id="2" name="">
            <a:extLst xmlns:a="http://schemas.openxmlformats.org/drawingml/2006/main">
              <a:ext uri="{FF2B5EF4-FFF2-40B4-BE49-F238E27FC236}">
                <a16:creationId xmlns:a16="http://schemas.microsoft.com/office/drawing/2014/main" id="{97F25FA8-EB7F-4946-8BB0-091883A9E182}"/>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09</a:t>
            </a:r>
          </a:p>
        </p:txBody>
      </p:sp>
      <p:sp>
        <p:nvSpPr>
          <p:cNvPr id="3" name="">
            <a:extLst xmlns:a="http://schemas.openxmlformats.org/drawingml/2006/main">
              <a:ext uri="{FF2B5EF4-FFF2-40B4-BE49-F238E27FC236}">
                <a16:creationId xmlns:a16="http://schemas.microsoft.com/office/drawing/2014/main" id="{6DABFA03-94E6-4EDB-990D-3B587CA2953B}"/>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01 Select a package</a:t>
            </a:r>
          </a:p>
        </p:txBody>
      </p:sp>
      <p:sp>
        <p:nvSpPr>
          <p:cNvPr id="4" name="">
            <a:extLst xmlns:a="http://schemas.openxmlformats.org/drawingml/2006/main">
              <a:ext uri="{FF2B5EF4-FFF2-40B4-BE49-F238E27FC236}">
                <a16:creationId xmlns:a16="http://schemas.microsoft.com/office/drawing/2014/main" id="{C4AE6837-1F04-4B51-892E-27D73A739E80}"/>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Review the service, price and session requirements.</a:t>
            </a:r>
          </a:p>
        </p:txBody>
      </p:sp>
      <p:sp>
        <p:nvSpPr>
          <p:cNvPr id="5" name="">
            <a:extLst xmlns:a="http://schemas.openxmlformats.org/drawingml/2006/main">
              <a:ext uri="{FF2B5EF4-FFF2-40B4-BE49-F238E27FC236}">
                <a16:creationId xmlns:a16="http://schemas.microsoft.com/office/drawing/2014/main" id="{85C731B8-C7A5-49FF-B465-1D1A7D82DEA5}"/>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02 Choose a schedule</a:t>
            </a:r>
          </a:p>
        </p:txBody>
      </p:sp>
      <p:sp>
        <p:nvSpPr>
          <p:cNvPr id="6" name="">
            <a:extLst xmlns:a="http://schemas.openxmlformats.org/drawingml/2006/main">
              <a:ext uri="{FF2B5EF4-FFF2-40B4-BE49-F238E27FC236}">
                <a16:creationId xmlns:a16="http://schemas.microsoft.com/office/drawing/2014/main" id="{995AA890-C071-4811-8090-1E6A82E00F57}"/>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Select a valid future date and available time.</a:t>
            </a:r>
          </a:p>
        </p:txBody>
      </p:sp>
      <p:sp>
        <p:nvSpPr>
          <p:cNvPr id="7" name="">
            <a:extLst xmlns:a="http://schemas.openxmlformats.org/drawingml/2006/main">
              <a:ext uri="{FF2B5EF4-FFF2-40B4-BE49-F238E27FC236}">
                <a16:creationId xmlns:a16="http://schemas.microsoft.com/office/drawing/2014/main" id="{FF7DDE5E-D6B2-4566-A718-4BD2E2C543B4}"/>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03 Enter information</a:t>
            </a:r>
          </a:p>
        </p:txBody>
      </p:sp>
      <p:sp>
        <p:nvSpPr>
          <p:cNvPr id="8" name="">
            <a:extLst xmlns:a="http://schemas.openxmlformats.org/drawingml/2006/main">
              <a:ext uri="{FF2B5EF4-FFF2-40B4-BE49-F238E27FC236}">
                <a16:creationId xmlns:a16="http://schemas.microsoft.com/office/drawing/2014/main" id="{7B5EEB45-B2CC-4DD3-A1FC-2440400D0DA8}"/>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Provide contact details and session preferences.</a:t>
            </a:r>
          </a:p>
        </p:txBody>
      </p:sp>
      <p:sp>
        <p:nvSpPr>
          <p:cNvPr id="9" name="">
            <a:extLst xmlns:a="http://schemas.openxmlformats.org/drawingml/2006/main">
              <a:ext uri="{FF2B5EF4-FFF2-40B4-BE49-F238E27FC236}">
                <a16:creationId xmlns:a16="http://schemas.microsoft.com/office/drawing/2014/main" id="{765CDEB8-F37E-4BDE-8AB8-793A5DE7C2F3}"/>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04 Review and submit</a:t>
            </a:r>
          </a:p>
        </p:txBody>
      </p:sp>
      <p:sp>
        <p:nvSpPr>
          <p:cNvPr id="10" name="">
            <a:extLst xmlns:a="http://schemas.openxmlformats.org/drawingml/2006/main">
              <a:ext uri="{FF2B5EF4-FFF2-40B4-BE49-F238E27FC236}">
                <a16:creationId xmlns:a16="http://schemas.microsoft.com/office/drawing/2014/main" id="{FFA8BEB4-8177-466F-89E4-A917AC50FC89}"/>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backend saves a pending request for photographer review.</a:t>
            </a:r>
          </a:p>
        </p:txBody>
      </p:sp>
    </p:spTree>
    <p:extLst>
      <p:ext uri="{BB962C8B-B14F-4D97-AF65-F5344CB8AC3E}">
        <p14:creationId xmlns:p14="http://schemas.microsoft.com/office/powerpoint/2010/main" val="334588432"/>
      </p:ext>
    </p:extLst>
  </p:cSld>
</p:sld>
</file>

<file path=ppt/slides/slide10.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52381C-5409-4ADE-B4CD-167B7F47983D}"/>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Photographer workflow</a:t>
            </a:r>
          </a:p>
        </p:txBody>
      </p:sp>
      <p:sp>
        <p:nvSpPr>
          <p:cNvPr id="2" name="">
            <a:extLst xmlns:a="http://schemas.openxmlformats.org/drawingml/2006/main">
              <a:ext uri="{FF2B5EF4-FFF2-40B4-BE49-F238E27FC236}">
                <a16:creationId xmlns:a16="http://schemas.microsoft.com/office/drawing/2014/main" id="{453C686B-6CB4-44C2-9BC4-3CE2E1AD9FB0}"/>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10</a:t>
            </a:r>
          </a:p>
        </p:txBody>
      </p:sp>
      <p:sp>
        <p:nvSpPr>
          <p:cNvPr id="3" name="">
            <a:extLst xmlns:a="http://schemas.openxmlformats.org/drawingml/2006/main">
              <a:ext uri="{FF2B5EF4-FFF2-40B4-BE49-F238E27FC236}">
                <a16:creationId xmlns:a16="http://schemas.microsoft.com/office/drawing/2014/main" id="{5900B723-3829-4960-A27F-451164E8EEBC}"/>
              </a:ext>
            </a:extLst>
          </p:cNvPr>
          <p:cNvSpPr>
            <a:spLocks xmlns:a="http://schemas.openxmlformats.org/drawingml/2006/main" noGrp="1"/>
          </p:cNvSpPr>
          <p:nvPr/>
        </p:nvSpPr>
        <p:spPr>
          <a:xfrm xmlns:a="http://schemas.openxmlformats.org/drawingml/2006/main">
            <a:off x="6858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Requests</a:t>
            </a:r>
          </a:p>
        </p:txBody>
      </p:sp>
      <p:sp>
        <p:nvSpPr>
          <p:cNvPr id="4" name="">
            <a:extLst xmlns:a="http://schemas.openxmlformats.org/drawingml/2006/main">
              <a:ext uri="{FF2B5EF4-FFF2-40B4-BE49-F238E27FC236}">
                <a16:creationId xmlns:a16="http://schemas.microsoft.com/office/drawing/2014/main" id="{8F7537F6-F96C-4DE1-B644-4B050B4EEA7F}"/>
              </a:ext>
            </a:extLst>
          </p:cNvPr>
          <p:cNvSpPr>
            <a:spLocks xmlns:a="http://schemas.openxmlformats.org/drawingml/2006/main" noGrp="1"/>
          </p:cNvSpPr>
          <p:nvPr/>
        </p:nvSpPr>
        <p:spPr>
          <a:xfrm xmlns:a="http://schemas.openxmlformats.org/drawingml/2006/main">
            <a:off x="6858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Inspect session details.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Confirm or reject pending requests.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Complete finished sessions.</a:t>
            </a:r>
          </a:p>
        </p:txBody>
      </p:sp>
      <p:sp>
        <p:nvSpPr>
          <p:cNvPr id="5" name="">
            <a:extLst xmlns:a="http://schemas.openxmlformats.org/drawingml/2006/main">
              <a:ext uri="{FF2B5EF4-FFF2-40B4-BE49-F238E27FC236}">
                <a16:creationId xmlns:a16="http://schemas.microsoft.com/office/drawing/2014/main" id="{59E5DA23-C5DB-4C09-A1D7-5C2F4013F91B}"/>
              </a:ext>
            </a:extLst>
          </p:cNvPr>
          <p:cNvSpPr>
            <a:spLocks xmlns:a="http://schemas.openxmlformats.org/drawingml/2006/main" noGrp="1"/>
          </p:cNvSpPr>
          <p:nvPr/>
        </p:nvSpPr>
        <p:spPr>
          <a:xfrm xmlns:a="http://schemas.openxmlformats.org/drawingml/2006/main">
            <a:off x="443865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Availability</a:t>
            </a:r>
          </a:p>
        </p:txBody>
      </p:sp>
      <p:sp>
        <p:nvSpPr>
          <p:cNvPr id="6" name="">
            <a:extLst xmlns:a="http://schemas.openxmlformats.org/drawingml/2006/main">
              <a:ext uri="{FF2B5EF4-FFF2-40B4-BE49-F238E27FC236}">
                <a16:creationId xmlns:a16="http://schemas.microsoft.com/office/drawing/2014/main" id="{47D25853-9551-40DC-989F-9B072F82AD67}"/>
              </a:ext>
            </a:extLst>
          </p:cNvPr>
          <p:cNvSpPr>
            <a:spLocks xmlns:a="http://schemas.openxmlformats.org/drawingml/2006/main" noGrp="1"/>
          </p:cNvSpPr>
          <p:nvPr/>
        </p:nvSpPr>
        <p:spPr>
          <a:xfrm xmlns:a="http://schemas.openxmlformats.org/drawingml/2006/main">
            <a:off x="443865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Set open windows.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Block dates and times.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Keep past calendar dates read only.</a:t>
            </a:r>
          </a:p>
        </p:txBody>
      </p:sp>
      <p:sp>
        <p:nvSpPr>
          <p:cNvPr id="7" name="">
            <a:extLst xmlns:a="http://schemas.openxmlformats.org/drawingml/2006/main">
              <a:ext uri="{FF2B5EF4-FFF2-40B4-BE49-F238E27FC236}">
                <a16:creationId xmlns:a16="http://schemas.microsoft.com/office/drawing/2014/main" id="{718F26CC-FB43-437B-8F72-89F476B8BE26}"/>
              </a:ext>
            </a:extLst>
          </p:cNvPr>
          <p:cNvSpPr>
            <a:spLocks xmlns:a="http://schemas.openxmlformats.org/drawingml/2006/main" noGrp="1"/>
          </p:cNvSpPr>
          <p:nvPr/>
        </p:nvSpPr>
        <p:spPr>
          <a:xfrm xmlns:a="http://schemas.openxmlformats.org/drawingml/2006/main">
            <a:off x="8191500" y="2000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Catalog</a:t>
            </a:r>
          </a:p>
        </p:txBody>
      </p:sp>
      <p:sp>
        <p:nvSpPr>
          <p:cNvPr id="8" name="">
            <a:extLst xmlns:a="http://schemas.openxmlformats.org/drawingml/2006/main">
              <a:ext uri="{FF2B5EF4-FFF2-40B4-BE49-F238E27FC236}">
                <a16:creationId xmlns:a16="http://schemas.microsoft.com/office/drawing/2014/main" id="{CEF41C8E-01C9-4108-B142-5EB6315941BD}"/>
              </a:ext>
            </a:extLst>
          </p:cNvPr>
          <p:cNvSpPr>
            <a:spLocks xmlns:a="http://schemas.openxmlformats.org/drawingml/2006/main" noGrp="1"/>
          </p:cNvSpPr>
          <p:nvPr/>
        </p:nvSpPr>
        <p:spPr>
          <a:xfrm xmlns:a="http://schemas.openxmlformats.org/drawingml/2006/main">
            <a:off x="8191500" y="3000375"/>
            <a:ext cx="33147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Create and edit services.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Manage package images.</a:t>
            </a:r>
          </a:p>
          <a:p xmlns:a="http://schemas.openxmlformats.org/drawingml/2006/main">
            <a:r>
              <a:t/>
            </a:r>
          </a:p>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Publish or archive offerings.</a:t>
            </a:r>
          </a:p>
        </p:txBody>
      </p:sp>
    </p:spTree>
    <p:extLst>
      <p:ext uri="{BB962C8B-B14F-4D97-AF65-F5344CB8AC3E}">
        <p14:creationId xmlns:p14="http://schemas.microsoft.com/office/powerpoint/2010/main" val="530749825"/>
      </p:ext>
    </p:extLst>
  </p:cSld>
</p:sld>
</file>

<file path=ppt/slides/slide11.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B48A25-00CD-439A-947C-B3FD9AA7479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Booking lifecycle</a:t>
            </a:r>
          </a:p>
        </p:txBody>
      </p:sp>
      <p:sp>
        <p:nvSpPr>
          <p:cNvPr id="2" name="">
            <a:extLst xmlns:a="http://schemas.openxmlformats.org/drawingml/2006/main">
              <a:ext uri="{FF2B5EF4-FFF2-40B4-BE49-F238E27FC236}">
                <a16:creationId xmlns:a16="http://schemas.microsoft.com/office/drawing/2014/main" id="{FE677DB7-0CB3-4C90-9F84-BAD36A49E7AE}"/>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11</a:t>
            </a:r>
          </a:p>
        </p:txBody>
      </p:sp>
      <p:sp>
        <p:nvSpPr>
          <p:cNvPr id="3" name="">
            <a:extLst xmlns:a="http://schemas.openxmlformats.org/drawingml/2006/main">
              <a:ext uri="{FF2B5EF4-FFF2-40B4-BE49-F238E27FC236}">
                <a16:creationId xmlns:a16="http://schemas.microsoft.com/office/drawing/2014/main" id="{E62DF3BE-F6F0-484E-8465-D964F22E42DA}"/>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pending</a:t>
            </a:r>
          </a:p>
        </p:txBody>
      </p:sp>
      <p:sp>
        <p:nvSpPr>
          <p:cNvPr id="4" name="">
            <a:extLst xmlns:a="http://schemas.openxmlformats.org/drawingml/2006/main">
              <a:ext uri="{FF2B5EF4-FFF2-40B4-BE49-F238E27FC236}">
                <a16:creationId xmlns:a16="http://schemas.microsoft.com/office/drawing/2014/main" id="{D5AC470E-8C4E-4112-9054-09980EF7E3A9}"/>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 new request awaits a photographer decision.</a:t>
            </a:r>
          </a:p>
        </p:txBody>
      </p:sp>
      <p:sp>
        <p:nvSpPr>
          <p:cNvPr id="5" name="">
            <a:extLst xmlns:a="http://schemas.openxmlformats.org/drawingml/2006/main">
              <a:ext uri="{FF2B5EF4-FFF2-40B4-BE49-F238E27FC236}">
                <a16:creationId xmlns:a16="http://schemas.microsoft.com/office/drawing/2014/main" id="{7652D2FC-74D7-4DA4-929A-A5AE3DE99652}"/>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confirmed or rejected</a:t>
            </a:r>
          </a:p>
        </p:txBody>
      </p:sp>
      <p:sp>
        <p:nvSpPr>
          <p:cNvPr id="6" name="">
            <a:extLst xmlns:a="http://schemas.openxmlformats.org/drawingml/2006/main">
              <a:ext uri="{FF2B5EF4-FFF2-40B4-BE49-F238E27FC236}">
                <a16:creationId xmlns:a16="http://schemas.microsoft.com/office/drawing/2014/main" id="{0CEECB2B-E836-41F5-AD50-4265328442A5}"/>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photographer accepts or declines a pending request.</a:t>
            </a:r>
          </a:p>
        </p:txBody>
      </p:sp>
      <p:sp>
        <p:nvSpPr>
          <p:cNvPr id="7" name="">
            <a:extLst xmlns:a="http://schemas.openxmlformats.org/drawingml/2006/main">
              <a:ext uri="{FF2B5EF4-FFF2-40B4-BE49-F238E27FC236}">
                <a16:creationId xmlns:a16="http://schemas.microsoft.com/office/drawing/2014/main" id="{34A16FBA-1C49-438F-AD62-B7F218CE97E3}"/>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completed</a:t>
            </a:r>
          </a:p>
        </p:txBody>
      </p:sp>
      <p:sp>
        <p:nvSpPr>
          <p:cNvPr id="8" name="">
            <a:extLst xmlns:a="http://schemas.openxmlformats.org/drawingml/2006/main">
              <a:ext uri="{FF2B5EF4-FFF2-40B4-BE49-F238E27FC236}">
                <a16:creationId xmlns:a16="http://schemas.microsoft.com/office/drawing/2014/main" id="{754530D9-6214-457D-A912-00D315535E7E}"/>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photographer marks a confirmed session finished.</a:t>
            </a:r>
          </a:p>
        </p:txBody>
      </p:sp>
      <p:sp>
        <p:nvSpPr>
          <p:cNvPr id="9" name="">
            <a:extLst xmlns:a="http://schemas.openxmlformats.org/drawingml/2006/main">
              <a:ext uri="{FF2B5EF4-FFF2-40B4-BE49-F238E27FC236}">
                <a16:creationId xmlns:a16="http://schemas.microsoft.com/office/drawing/2014/main" id="{3A736E7A-E1C0-486B-A0BE-186FB6177E3E}"/>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cancelled or expired</a:t>
            </a:r>
          </a:p>
        </p:txBody>
      </p:sp>
      <p:sp>
        <p:nvSpPr>
          <p:cNvPr id="10" name="">
            <a:extLst xmlns:a="http://schemas.openxmlformats.org/drawingml/2006/main">
              <a:ext uri="{FF2B5EF4-FFF2-40B4-BE49-F238E27FC236}">
                <a16:creationId xmlns:a16="http://schemas.microsoft.com/office/drawing/2014/main" id="{2593A709-A088-4F1A-AAE2-72C2F8F210FB}"/>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 client cancels a pending request, or its start time passes.</a:t>
            </a:r>
          </a:p>
        </p:txBody>
      </p:sp>
    </p:spTree>
    <p:extLst>
      <p:ext uri="{BB962C8B-B14F-4D97-AF65-F5344CB8AC3E}">
        <p14:creationId xmlns:p14="http://schemas.microsoft.com/office/powerpoint/2010/main" val="1671064286"/>
      </p:ext>
    </p:extLst>
  </p:cSld>
</p:sld>
</file>

<file path=ppt/slides/slide12.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5AD0C4-6A74-4899-910A-0CD620DDA4B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Conflict prevention</a:t>
            </a:r>
          </a:p>
        </p:txBody>
      </p:sp>
      <p:sp>
        <p:nvSpPr>
          <p:cNvPr id="2" name="">
            <a:extLst xmlns:a="http://schemas.openxmlformats.org/drawingml/2006/main">
              <a:ext uri="{FF2B5EF4-FFF2-40B4-BE49-F238E27FC236}">
                <a16:creationId xmlns:a16="http://schemas.microsoft.com/office/drawing/2014/main" id="{C8192752-1532-4292-9022-67B556DE0A1C}"/>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12</a:t>
            </a:r>
          </a:p>
        </p:txBody>
      </p:sp>
      <p:sp>
        <p:nvSpPr>
          <p:cNvPr id="3" name="">
            <a:extLst xmlns:a="http://schemas.openxmlformats.org/drawingml/2006/main">
              <a:ext uri="{FF2B5EF4-FFF2-40B4-BE49-F238E27FC236}">
                <a16:creationId xmlns:a16="http://schemas.microsoft.com/office/drawing/2014/main" id="{96318ED3-AF3E-4DDA-97E0-CB0B03C68A85}"/>
              </a:ext>
            </a:extLst>
          </p:cNvPr>
          <p:cNvSpPr>
            <a:spLocks xmlns:a="http://schemas.openxmlformats.org/drawingml/2006/main" noGrp="1"/>
          </p:cNvSpPr>
          <p:nvPr/>
        </p:nvSpPr>
        <p:spPr>
          <a:xfrm xmlns:a="http://schemas.openxmlformats.org/drawingml/2006/main">
            <a:off x="704850" y="1762125"/>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C4C"/>
                </a:solidFill>
                <a:latin typeface="Calibri"/>
                <a:ea typeface="Calibri"/>
                <a:cs typeface="Calibri"/>
              </a:defRPr>
            </a:defPPr>
          </a:lstStyle>
          <a:p xmlns:a="http://schemas.openxmlformats.org/drawingml/2006/main">
            <a:pPr>
              <a:defRPr sz="3225" b="1">
                <a:solidFill>
                  <a:srgbClr val="142C4C"/>
                </a:solidFill>
                <a:latin typeface="Calibri"/>
                <a:ea typeface="Calibri"/>
                <a:cs typeface="Calibri"/>
              </a:defRPr>
            </a:pPr>
            <a:r>
              <a:rPr sz="3225" b="1">
                <a:solidFill>
                  <a:srgbClr val="142C4C"/>
                </a:solidFill>
                <a:latin typeface="Calibri"/>
                <a:ea typeface="Calibri"/>
                <a:cs typeface="Calibri"/>
              </a:rPr>
              <a:t>Availability checks happen again</a:t>
            </a:r>
          </a:p>
          <a:p xmlns:a="http://schemas.openxmlformats.org/drawingml/2006/main">
            <a:pPr>
              <a:defRPr sz="3225" b="1">
                <a:solidFill>
                  <a:srgbClr val="142C4C"/>
                </a:solidFill>
                <a:latin typeface="Calibri"/>
                <a:ea typeface="Calibri"/>
                <a:cs typeface="Calibri"/>
              </a:defRPr>
            </a:pPr>
            <a:r>
              <a:rPr sz="3225" b="1">
                <a:solidFill>
                  <a:srgbClr val="142C4C"/>
                </a:solidFill>
                <a:latin typeface="Calibri"/>
                <a:ea typeface="Calibri"/>
                <a:cs typeface="Calibri"/>
              </a:rPr>
              <a:t>before a booking decision</a:t>
            </a:r>
          </a:p>
        </p:txBody>
      </p:sp>
      <p:sp>
        <p:nvSpPr>
          <p:cNvPr id="4" name="">
            <a:extLst xmlns:a="http://schemas.openxmlformats.org/drawingml/2006/main">
              <a:ext uri="{FF2B5EF4-FFF2-40B4-BE49-F238E27FC236}">
                <a16:creationId xmlns:a16="http://schemas.microsoft.com/office/drawing/2014/main" id="{56EC4E04-E3C0-47A6-897A-43C0258C4B45}"/>
              </a:ext>
            </a:extLst>
          </p:cNvPr>
          <p:cNvSpPr>
            <a:spLocks xmlns:a="http://schemas.openxmlformats.org/drawingml/2006/main" noGrp="1"/>
          </p:cNvSpPr>
          <p:nvPr/>
        </p:nvSpPr>
        <p:spPr>
          <a:xfrm xmlns:a="http://schemas.openxmlformats.org/drawingml/2006/main">
            <a:off x="685800" y="3524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Service rules</a:t>
            </a:r>
          </a:p>
        </p:txBody>
      </p:sp>
      <p:sp>
        <p:nvSpPr>
          <p:cNvPr id="5" name="">
            <a:extLst xmlns:a="http://schemas.openxmlformats.org/drawingml/2006/main">
              <a:ext uri="{FF2B5EF4-FFF2-40B4-BE49-F238E27FC236}">
                <a16:creationId xmlns:a16="http://schemas.microsoft.com/office/drawing/2014/main" id="{9993E916-A00C-4887-BD67-6F02A9D6765D}"/>
              </a:ext>
            </a:extLst>
          </p:cNvPr>
          <p:cNvSpPr>
            <a:spLocks xmlns:a="http://schemas.openxmlformats.org/drawingml/2006/main" noGrp="1"/>
          </p:cNvSpPr>
          <p:nvPr/>
        </p:nvSpPr>
        <p:spPr>
          <a:xfrm xmlns:a="http://schemas.openxmlformats.org/drawingml/2006/main">
            <a:off x="685800" y="452437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Duration, minimum notice and preparation buffer</a:t>
            </a:r>
          </a:p>
        </p:txBody>
      </p:sp>
      <p:sp>
        <p:nvSpPr>
          <p:cNvPr id="6" name="">
            <a:extLst xmlns:a="http://schemas.openxmlformats.org/drawingml/2006/main">
              <a:ext uri="{FF2B5EF4-FFF2-40B4-BE49-F238E27FC236}">
                <a16:creationId xmlns:a16="http://schemas.microsoft.com/office/drawing/2014/main" id="{BBD9BE20-B0B7-4500-8981-4B1123EE459A}"/>
              </a:ext>
            </a:extLst>
          </p:cNvPr>
          <p:cNvSpPr>
            <a:spLocks xmlns:a="http://schemas.openxmlformats.org/drawingml/2006/main" noGrp="1"/>
          </p:cNvSpPr>
          <p:nvPr/>
        </p:nvSpPr>
        <p:spPr>
          <a:xfrm xmlns:a="http://schemas.openxmlformats.org/drawingml/2006/main">
            <a:off x="4438650" y="3524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Studio rules</a:t>
            </a:r>
          </a:p>
        </p:txBody>
      </p:sp>
      <p:sp>
        <p:nvSpPr>
          <p:cNvPr id="7" name="">
            <a:extLst xmlns:a="http://schemas.openxmlformats.org/drawingml/2006/main">
              <a:ext uri="{FF2B5EF4-FFF2-40B4-BE49-F238E27FC236}">
                <a16:creationId xmlns:a16="http://schemas.microsoft.com/office/drawing/2014/main" id="{F3277DC5-5580-4886-BC33-CDF85E88D0FC}"/>
              </a:ext>
            </a:extLst>
          </p:cNvPr>
          <p:cNvSpPr>
            <a:spLocks xmlns:a="http://schemas.openxmlformats.org/drawingml/2006/main" noGrp="1"/>
          </p:cNvSpPr>
          <p:nvPr/>
        </p:nvSpPr>
        <p:spPr>
          <a:xfrm xmlns:a="http://schemas.openxmlformats.org/drawingml/2006/main">
            <a:off x="4438650" y="452437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Open windows, blocked times and current working hours</a:t>
            </a:r>
          </a:p>
        </p:txBody>
      </p:sp>
      <p:sp>
        <p:nvSpPr>
          <p:cNvPr id="8" name="">
            <a:extLst xmlns:a="http://schemas.openxmlformats.org/drawingml/2006/main">
              <a:ext uri="{FF2B5EF4-FFF2-40B4-BE49-F238E27FC236}">
                <a16:creationId xmlns:a16="http://schemas.microsoft.com/office/drawing/2014/main" id="{D2811860-9508-48B2-9136-C9B3F253C408}"/>
              </a:ext>
            </a:extLst>
          </p:cNvPr>
          <p:cNvSpPr>
            <a:spLocks xmlns:a="http://schemas.openxmlformats.org/drawingml/2006/main" noGrp="1"/>
          </p:cNvSpPr>
          <p:nvPr/>
        </p:nvSpPr>
        <p:spPr>
          <a:xfrm xmlns:a="http://schemas.openxmlformats.org/drawingml/2006/main">
            <a:off x="8191500" y="352425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2C4C"/>
                </a:solidFill>
                <a:latin typeface="Calibri"/>
                <a:ea typeface="Calibri"/>
                <a:cs typeface="Calibri"/>
              </a:defRPr>
            </a:defPPr>
          </a:lstStyle>
          <a:p xmlns:a="http://schemas.openxmlformats.org/drawingml/2006/main">
            <a:pPr>
              <a:defRPr sz="2625" b="1">
                <a:solidFill>
                  <a:srgbClr val="142C4C"/>
                </a:solidFill>
                <a:latin typeface="Calibri"/>
                <a:ea typeface="Calibri"/>
                <a:cs typeface="Calibri"/>
              </a:defRPr>
            </a:pPr>
            <a:r>
              <a:rPr sz="2625" b="1">
                <a:solidFill>
                  <a:srgbClr val="142C4C"/>
                </a:solidFill>
                <a:latin typeface="Calibri"/>
                <a:ea typeface="Calibri"/>
                <a:cs typeface="Calibri"/>
              </a:rPr>
              <a:t>Database protection</a:t>
            </a:r>
          </a:p>
        </p:txBody>
      </p:sp>
      <p:sp>
        <p:nvSpPr>
          <p:cNvPr id="9" name="">
            <a:extLst xmlns:a="http://schemas.openxmlformats.org/drawingml/2006/main">
              <a:ext uri="{FF2B5EF4-FFF2-40B4-BE49-F238E27FC236}">
                <a16:creationId xmlns:a16="http://schemas.microsoft.com/office/drawing/2014/main" id="{4C3454E5-94F5-4675-B3AA-C3E6562D8908}"/>
              </a:ext>
            </a:extLst>
          </p:cNvPr>
          <p:cNvSpPr>
            <a:spLocks xmlns:a="http://schemas.openxmlformats.org/drawingml/2006/main" noGrp="1"/>
          </p:cNvSpPr>
          <p:nvPr/>
        </p:nvSpPr>
        <p:spPr>
          <a:xfrm xmlns:a="http://schemas.openxmlformats.org/drawingml/2006/main">
            <a:off x="8191500" y="452437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B"/>
                </a:solidFill>
                <a:latin typeface="Calibri"/>
                <a:ea typeface="Calibri"/>
                <a:cs typeface="Calibri"/>
              </a:defRPr>
            </a:defPPr>
          </a:lstStyle>
          <a:p xmlns:a="http://schemas.openxmlformats.org/drawingml/2006/main">
            <a:pPr>
              <a:defRPr sz="2100" b="0">
                <a:solidFill>
                  <a:srgbClr val="26384B"/>
                </a:solidFill>
                <a:latin typeface="Calibri"/>
                <a:ea typeface="Calibri"/>
                <a:cs typeface="Calibri"/>
              </a:defRPr>
            </a:pPr>
            <a:r>
              <a:rPr sz="2100" b="0">
                <a:solidFill>
                  <a:srgbClr val="26384B"/>
                </a:solidFill>
                <a:latin typeface="Calibri"/>
                <a:ea typeface="Calibri"/>
                <a:cs typeface="Calibri"/>
              </a:rPr>
              <a:t>Expected status filters and a confirmed overlap constraint</a:t>
            </a:r>
          </a:p>
        </p:txBody>
      </p:sp>
    </p:spTree>
    <p:extLst>
      <p:ext uri="{BB962C8B-B14F-4D97-AF65-F5344CB8AC3E}">
        <p14:creationId xmlns:p14="http://schemas.microsoft.com/office/powerpoint/2010/main" val="1857493028"/>
      </p:ext>
    </p:extLst>
  </p:cSld>
</p:sld>
</file>

<file path=ppt/slides/slide13.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5E7B33-8F76-4ECD-BA09-C862AF02E24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Notifications and reminders</a:t>
            </a:r>
          </a:p>
        </p:txBody>
      </p:sp>
      <p:sp>
        <p:nvSpPr>
          <p:cNvPr id="2" name="">
            <a:extLst xmlns:a="http://schemas.openxmlformats.org/drawingml/2006/main">
              <a:ext uri="{FF2B5EF4-FFF2-40B4-BE49-F238E27FC236}">
                <a16:creationId xmlns:a16="http://schemas.microsoft.com/office/drawing/2014/main" id="{2D5CED71-6A6C-44FE-8310-7380067F7B7E}"/>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13</a:t>
            </a:r>
          </a:p>
        </p:txBody>
      </p:sp>
      <p:sp>
        <p:nvSpPr>
          <p:cNvPr id="3" name="">
            <a:extLst xmlns:a="http://schemas.openxmlformats.org/drawingml/2006/main">
              <a:ext uri="{FF2B5EF4-FFF2-40B4-BE49-F238E27FC236}">
                <a16:creationId xmlns:a16="http://schemas.microsoft.com/office/drawing/2014/main" id="{C0E92C18-C09D-4C02-903E-96BC2345DFA7}"/>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In app inbox</a:t>
            </a:r>
          </a:p>
        </p:txBody>
      </p:sp>
      <p:sp>
        <p:nvSpPr>
          <p:cNvPr id="4" name="">
            <a:extLst xmlns:a="http://schemas.openxmlformats.org/drawingml/2006/main">
              <a:ext uri="{FF2B5EF4-FFF2-40B4-BE49-F238E27FC236}">
                <a16:creationId xmlns:a16="http://schemas.microsoft.com/office/drawing/2014/main" id="{BA91AC1D-9A3F-4960-B843-50746AB3E8D7}"/>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Booking activity appears in recipient notification records.</a:t>
            </a:r>
          </a:p>
        </p:txBody>
      </p:sp>
      <p:sp>
        <p:nvSpPr>
          <p:cNvPr id="5" name="">
            <a:extLst xmlns:a="http://schemas.openxmlformats.org/drawingml/2006/main">
              <a:ext uri="{FF2B5EF4-FFF2-40B4-BE49-F238E27FC236}">
                <a16:creationId xmlns:a16="http://schemas.microsoft.com/office/drawing/2014/main" id="{FDAD0CE9-D971-4941-9B34-06918DE16C3D}"/>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Scheduled reminders</a:t>
            </a:r>
          </a:p>
        </p:txBody>
      </p:sp>
      <p:sp>
        <p:nvSpPr>
          <p:cNvPr id="6" name="">
            <a:extLst xmlns:a="http://schemas.openxmlformats.org/drawingml/2006/main">
              <a:ext uri="{FF2B5EF4-FFF2-40B4-BE49-F238E27FC236}">
                <a16:creationId xmlns:a16="http://schemas.microsoft.com/office/drawing/2014/main" id="{05110389-DC04-49FE-96A2-E2E938566184}"/>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An hourly database job selects tomorrow confirmed sessions.</a:t>
            </a:r>
          </a:p>
        </p:txBody>
      </p:sp>
      <p:sp>
        <p:nvSpPr>
          <p:cNvPr id="7" name="">
            <a:extLst xmlns:a="http://schemas.openxmlformats.org/drawingml/2006/main">
              <a:ext uri="{FF2B5EF4-FFF2-40B4-BE49-F238E27FC236}">
                <a16:creationId xmlns:a16="http://schemas.microsoft.com/office/drawing/2014/main" id="{3EBA452E-FDC4-47BE-AF5D-BB8CF7CBB98F}"/>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Push dispatcher</a:t>
            </a:r>
          </a:p>
        </p:txBody>
      </p:sp>
      <p:sp>
        <p:nvSpPr>
          <p:cNvPr id="8" name="">
            <a:extLst xmlns:a="http://schemas.openxmlformats.org/drawingml/2006/main">
              <a:ext uri="{FF2B5EF4-FFF2-40B4-BE49-F238E27FC236}">
                <a16:creationId xmlns:a16="http://schemas.microsoft.com/office/drawing/2014/main" id="{B3378DCD-1181-40AD-B9B0-F8E6D4BD0953}"/>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An Edge Function sends to active recipient device sessions.</a:t>
            </a:r>
          </a:p>
        </p:txBody>
      </p:sp>
      <p:sp>
        <p:nvSpPr>
          <p:cNvPr id="9" name="">
            <a:extLst xmlns:a="http://schemas.openxmlformats.org/drawingml/2006/main">
              <a:ext uri="{FF2B5EF4-FFF2-40B4-BE49-F238E27FC236}">
                <a16:creationId xmlns:a16="http://schemas.microsoft.com/office/drawing/2014/main" id="{76DCC78E-D4B7-42AC-A244-764AA27D1810}"/>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Delivery boundary</a:t>
            </a:r>
          </a:p>
        </p:txBody>
      </p:sp>
      <p:sp>
        <p:nvSpPr>
          <p:cNvPr id="10" name="">
            <a:extLst xmlns:a="http://schemas.openxmlformats.org/drawingml/2006/main">
              <a:ext uri="{FF2B5EF4-FFF2-40B4-BE49-F238E27FC236}">
                <a16:creationId xmlns:a16="http://schemas.microsoft.com/office/drawing/2014/main" id="{30112990-85FD-4CE0-8C3D-5BAE804346BC}"/>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Submission to Expo does not prove display on every device.</a:t>
            </a:r>
          </a:p>
        </p:txBody>
      </p:sp>
    </p:spTree>
    <p:extLst>
      <p:ext uri="{BB962C8B-B14F-4D97-AF65-F5344CB8AC3E}">
        <p14:creationId xmlns:p14="http://schemas.microsoft.com/office/powerpoint/2010/main" val="1214652554"/>
      </p:ext>
    </p:extLst>
  </p:cSld>
</p:sld>
</file>

<file path=ppt/slides/slide14.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AF8C12-1DB5-45D4-9B74-33637F8279D6}"/>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Security and privacy</a:t>
            </a:r>
          </a:p>
        </p:txBody>
      </p:sp>
      <p:sp>
        <p:nvSpPr>
          <p:cNvPr id="2" name="">
            <a:extLst xmlns:a="http://schemas.openxmlformats.org/drawingml/2006/main">
              <a:ext uri="{FF2B5EF4-FFF2-40B4-BE49-F238E27FC236}">
                <a16:creationId xmlns:a16="http://schemas.microsoft.com/office/drawing/2014/main" id="{599F318A-2EBC-481A-B940-38D4E6291919}"/>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14</a:t>
            </a:r>
          </a:p>
        </p:txBody>
      </p:sp>
      <p:sp>
        <p:nvSpPr>
          <p:cNvPr id="3" name="">
            <a:extLst xmlns:a="http://schemas.openxmlformats.org/drawingml/2006/main">
              <a:ext uri="{FF2B5EF4-FFF2-40B4-BE49-F238E27FC236}">
                <a16:creationId xmlns:a16="http://schemas.microsoft.com/office/drawing/2014/main" id="{FA603231-E7D3-4925-B7D3-2EF8AF4431E4}"/>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Database authorization</a:t>
            </a:r>
          </a:p>
        </p:txBody>
      </p:sp>
      <p:sp>
        <p:nvSpPr>
          <p:cNvPr id="4" name="">
            <a:extLst xmlns:a="http://schemas.openxmlformats.org/drawingml/2006/main">
              <a:ext uri="{FF2B5EF4-FFF2-40B4-BE49-F238E27FC236}">
                <a16:creationId xmlns:a16="http://schemas.microsoft.com/office/drawing/2014/main" id="{E6C1493D-C500-474F-BFC8-B9C7EB7D7C68}"/>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Row level security checks ownership and admin permissions.</a:t>
            </a:r>
          </a:p>
        </p:txBody>
      </p:sp>
      <p:sp>
        <p:nvSpPr>
          <p:cNvPr id="5" name="">
            <a:extLst xmlns:a="http://schemas.openxmlformats.org/drawingml/2006/main">
              <a:ext uri="{FF2B5EF4-FFF2-40B4-BE49-F238E27FC236}">
                <a16:creationId xmlns:a16="http://schemas.microsoft.com/office/drawing/2014/main" id="{72AFFA79-6AE6-4BE7-AA9F-E078D0CCFC28}"/>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Server credentials</a:t>
            </a:r>
          </a:p>
        </p:txBody>
      </p:sp>
      <p:sp>
        <p:nvSpPr>
          <p:cNvPr id="6" name="">
            <a:extLst xmlns:a="http://schemas.openxmlformats.org/drawingml/2006/main">
              <a:ext uri="{FF2B5EF4-FFF2-40B4-BE49-F238E27FC236}">
                <a16:creationId xmlns:a16="http://schemas.microsoft.com/office/drawing/2014/main" id="{7E8F1BC0-091A-430F-A8EC-083AA91BC51E}"/>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Service keys and private provider secrets stay outside the app.</a:t>
            </a:r>
          </a:p>
        </p:txBody>
      </p:sp>
      <p:sp>
        <p:nvSpPr>
          <p:cNvPr id="7" name="">
            <a:extLst xmlns:a="http://schemas.openxmlformats.org/drawingml/2006/main">
              <a:ext uri="{FF2B5EF4-FFF2-40B4-BE49-F238E27FC236}">
                <a16:creationId xmlns:a16="http://schemas.microsoft.com/office/drawing/2014/main" id="{554667E0-CC18-4D5E-B148-DFDEC722ED2E}"/>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Account isolation</a:t>
            </a:r>
          </a:p>
        </p:txBody>
      </p:sp>
      <p:sp>
        <p:nvSpPr>
          <p:cNvPr id="8" name="">
            <a:extLst xmlns:a="http://schemas.openxmlformats.org/drawingml/2006/main">
              <a:ext uri="{FF2B5EF4-FFF2-40B4-BE49-F238E27FC236}">
                <a16:creationId xmlns:a16="http://schemas.microsoft.com/office/drawing/2014/main" id="{23104171-04D7-49AB-9967-F0A0B582CB95}"/>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Session scoped caches reject obsolete account responses.</a:t>
            </a:r>
          </a:p>
        </p:txBody>
      </p:sp>
      <p:sp>
        <p:nvSpPr>
          <p:cNvPr id="9" name="">
            <a:extLst xmlns:a="http://schemas.openxmlformats.org/drawingml/2006/main">
              <a:ext uri="{FF2B5EF4-FFF2-40B4-BE49-F238E27FC236}">
                <a16:creationId xmlns:a16="http://schemas.microsoft.com/office/drawing/2014/main" id="{479EEA7D-944A-460F-9C27-F2F648C46611}"/>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Image visibility</a:t>
            </a:r>
          </a:p>
        </p:txBody>
      </p:sp>
      <p:sp>
        <p:nvSpPr>
          <p:cNvPr id="10" name="">
            <a:extLst xmlns:a="http://schemas.openxmlformats.org/drawingml/2006/main">
              <a:ext uri="{FF2B5EF4-FFF2-40B4-BE49-F238E27FC236}">
                <a16:creationId xmlns:a16="http://schemas.microsoft.com/office/drawing/2014/main" id="{DA97C473-5855-4851-BCF9-97098221DBFB}"/>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Avatar and catalog buckets allow public reads.</a:t>
            </a:r>
          </a:p>
        </p:txBody>
      </p:sp>
    </p:spTree>
    <p:extLst>
      <p:ext uri="{BB962C8B-B14F-4D97-AF65-F5344CB8AC3E}">
        <p14:creationId xmlns:p14="http://schemas.microsoft.com/office/powerpoint/2010/main" val="618035971"/>
      </p:ext>
    </p:extLst>
  </p:cSld>
</p:sld>
</file>

<file path=ppt/slides/slide15.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FF1C70-CCCF-4282-B943-F957765059B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Performance and reliability</a:t>
            </a:r>
          </a:p>
        </p:txBody>
      </p:sp>
      <p:sp>
        <p:nvSpPr>
          <p:cNvPr id="2" name="">
            <a:extLst xmlns:a="http://schemas.openxmlformats.org/drawingml/2006/main">
              <a:ext uri="{FF2B5EF4-FFF2-40B4-BE49-F238E27FC236}">
                <a16:creationId xmlns:a16="http://schemas.microsoft.com/office/drawing/2014/main" id="{7C9464FD-2036-4CCD-B34B-83540C144FE1}"/>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15</a:t>
            </a:r>
          </a:p>
        </p:txBody>
      </p:sp>
      <p:sp>
        <p:nvSpPr>
          <p:cNvPr id="3" name="">
            <a:extLst xmlns:a="http://schemas.openxmlformats.org/drawingml/2006/main">
              <a:ext uri="{FF2B5EF4-FFF2-40B4-BE49-F238E27FC236}">
                <a16:creationId xmlns:a16="http://schemas.microsoft.com/office/drawing/2014/main" id="{E3FC93D7-86E4-44FF-88FC-EBF328CAC4ED}"/>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30 bookings per page</a:t>
            </a:r>
          </a:p>
        </p:txBody>
      </p:sp>
      <p:sp>
        <p:nvSpPr>
          <p:cNvPr id="4" name="">
            <a:extLst xmlns:a="http://schemas.openxmlformats.org/drawingml/2006/main">
              <a:ext uri="{FF2B5EF4-FFF2-40B4-BE49-F238E27FC236}">
                <a16:creationId xmlns:a16="http://schemas.microsoft.com/office/drawing/2014/main" id="{8487A5B4-85A1-4F68-8886-92DFF091A853}"/>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Cursor paging keeps list responses bounded.</a:t>
            </a:r>
          </a:p>
        </p:txBody>
      </p:sp>
      <p:sp>
        <p:nvSpPr>
          <p:cNvPr id="5" name="">
            <a:extLst xmlns:a="http://schemas.openxmlformats.org/drawingml/2006/main">
              <a:ext uri="{FF2B5EF4-FFF2-40B4-BE49-F238E27FC236}">
                <a16:creationId xmlns:a16="http://schemas.microsoft.com/office/drawing/2014/main" id="{8E794B6A-0576-4C5B-B136-13AC63BED1CF}"/>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Shared cached reads</a:t>
            </a:r>
          </a:p>
        </p:txBody>
      </p:sp>
      <p:sp>
        <p:nvSpPr>
          <p:cNvPr id="6" name="">
            <a:extLst xmlns:a="http://schemas.openxmlformats.org/drawingml/2006/main">
              <a:ext uri="{FF2B5EF4-FFF2-40B4-BE49-F238E27FC236}">
                <a16:creationId xmlns:a16="http://schemas.microsoft.com/office/drawing/2014/main" id="{FD1B1333-FC34-4726-8C26-9F319083F05C}"/>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Browsing reuses data while critical actions force fresh validation.</a:t>
            </a:r>
          </a:p>
        </p:txBody>
      </p:sp>
      <p:sp>
        <p:nvSpPr>
          <p:cNvPr id="7" name="">
            <a:extLst xmlns:a="http://schemas.openxmlformats.org/drawingml/2006/main">
              <a:ext uri="{FF2B5EF4-FFF2-40B4-BE49-F238E27FC236}">
                <a16:creationId xmlns:a16="http://schemas.microsoft.com/office/drawing/2014/main" id="{F0A06747-EFA8-4344-B888-F35305BC0102}"/>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Virtualized catalog</a:t>
            </a:r>
          </a:p>
        </p:txBody>
      </p:sp>
      <p:sp>
        <p:nvSpPr>
          <p:cNvPr id="8" name="">
            <a:extLst xmlns:a="http://schemas.openxmlformats.org/drawingml/2006/main">
              <a:ext uri="{FF2B5EF4-FFF2-40B4-BE49-F238E27FC236}">
                <a16:creationId xmlns:a16="http://schemas.microsoft.com/office/drawing/2014/main" id="{8F95E4BD-3659-4901-9BD1-2E9C67AAEF9F}"/>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FlatList limits the cards rendered at the same time.</a:t>
            </a:r>
          </a:p>
        </p:txBody>
      </p:sp>
      <p:sp>
        <p:nvSpPr>
          <p:cNvPr id="9" name="">
            <a:extLst xmlns:a="http://schemas.openxmlformats.org/drawingml/2006/main">
              <a:ext uri="{FF2B5EF4-FFF2-40B4-BE49-F238E27FC236}">
                <a16:creationId xmlns:a16="http://schemas.microsoft.com/office/drawing/2014/main" id="{832C9681-16E0-4D0A-A049-B85EC9495547}"/>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Stale response guards</a:t>
            </a:r>
          </a:p>
        </p:txBody>
      </p:sp>
      <p:sp>
        <p:nvSpPr>
          <p:cNvPr id="10" name="">
            <a:extLst xmlns:a="http://schemas.openxmlformats.org/drawingml/2006/main">
              <a:ext uri="{FF2B5EF4-FFF2-40B4-BE49-F238E27FC236}">
                <a16:creationId xmlns:a16="http://schemas.microsoft.com/office/drawing/2014/main" id="{41E0E40E-4A3C-4FC2-8B4A-BA57F33A6A21}"/>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Old requests cannot repopulate a different account.</a:t>
            </a:r>
          </a:p>
        </p:txBody>
      </p:sp>
    </p:spTree>
    <p:extLst>
      <p:ext uri="{BB962C8B-B14F-4D97-AF65-F5344CB8AC3E}">
        <p14:creationId xmlns:p14="http://schemas.microsoft.com/office/powerpoint/2010/main" val="1448153461"/>
      </p:ext>
    </p:extLst>
  </p:cSld>
</p:sld>
</file>

<file path=ppt/slides/slide16.xml><?xml version="1.0" encoding="utf-8"?>
<p:sld xmlns:p="http://schemas.openxmlformats.org/presentationml/2006/main">
  <p:cSld>
    <p:bg>
      <p:bgPr>
        <a:solidFill xmlns:a="http://schemas.openxmlformats.org/drawingml/2006/main">
          <a:srgbClr val="142C4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432FE0-6AF7-45B3-A221-D08116BBAE5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Testing evidence</a:t>
            </a:r>
          </a:p>
        </p:txBody>
      </p:sp>
      <p:sp>
        <p:nvSpPr>
          <p:cNvPr id="2" name="">
            <a:extLst xmlns:a="http://schemas.openxmlformats.org/drawingml/2006/main">
              <a:ext uri="{FF2B5EF4-FFF2-40B4-BE49-F238E27FC236}">
                <a16:creationId xmlns:a16="http://schemas.microsoft.com/office/drawing/2014/main" id="{D10245D9-05A7-4371-AD47-683A48E1B877}"/>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C9DB"/>
                </a:solidFill>
                <a:latin typeface="Calibri"/>
                <a:ea typeface="Calibri"/>
                <a:cs typeface="Calibri"/>
              </a:defRPr>
            </a:defPPr>
          </a:lstStyle>
          <a:p xmlns:a="http://schemas.openxmlformats.org/drawingml/2006/main">
            <a:pPr>
              <a:defRPr sz="1200" b="0">
                <a:solidFill>
                  <a:srgbClr val="B8C9DB"/>
                </a:solidFill>
                <a:latin typeface="Calibri"/>
                <a:ea typeface="Calibri"/>
                <a:cs typeface="Calibri"/>
              </a:defRPr>
            </a:pPr>
            <a:r>
              <a:rPr sz="1200" b="0">
                <a:solidFill>
                  <a:srgbClr val="B8C9DB"/>
                </a:solidFill>
                <a:latin typeface="Calibri"/>
                <a:ea typeface="Calibri"/>
                <a:cs typeface="Calibri"/>
              </a:rPr>
              <a:t>16</a:t>
            </a:r>
          </a:p>
        </p:txBody>
      </p:sp>
      <p:sp>
        <p:nvSpPr>
          <p:cNvPr id="3" name="">
            <a:extLst xmlns:a="http://schemas.openxmlformats.org/drawingml/2006/main">
              <a:ext uri="{FF2B5EF4-FFF2-40B4-BE49-F238E27FC236}">
                <a16:creationId xmlns:a16="http://schemas.microsoft.com/office/drawing/2014/main" id="{5F4B9AE9-39A0-444F-9CF5-F35501E2B663}"/>
              </a:ext>
            </a:extLst>
          </p:cNvPr>
          <p:cNvSpPr>
            <a:spLocks xmlns:a="http://schemas.openxmlformats.org/drawingml/2006/main" noGrp="1"/>
          </p:cNvSpPr>
          <p:nvPr/>
        </p:nvSpPr>
        <p:spPr>
          <a:xfrm xmlns:a="http://schemas.openxmlformats.org/drawingml/2006/main">
            <a:off x="704850" y="176212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875" b="1">
                <a:solidFill>
                  <a:srgbClr val="FFFFFF"/>
                </a:solidFill>
                <a:latin typeface="Calibri"/>
                <a:ea typeface="Calibri"/>
                <a:cs typeface="Calibri"/>
              </a:defRPr>
            </a:defPPr>
          </a:lstStyle>
          <a:p xmlns:a="http://schemas.openxmlformats.org/drawingml/2006/main">
            <a:pPr>
              <a:defRPr sz="10875" b="1">
                <a:solidFill>
                  <a:srgbClr val="FFFFFF"/>
                </a:solidFill>
                <a:latin typeface="Calibri"/>
                <a:ea typeface="Calibri"/>
                <a:cs typeface="Calibri"/>
              </a:defRPr>
            </a:pPr>
            <a:r>
              <a:rPr sz="10875" b="1">
                <a:solidFill>
                  <a:srgbClr val="FFFFFF"/>
                </a:solidFill>
                <a:latin typeface="Calibri"/>
                <a:ea typeface="Calibri"/>
                <a:cs typeface="Calibri"/>
              </a:rPr>
              <a:t>473</a:t>
            </a:r>
          </a:p>
        </p:txBody>
      </p:sp>
      <p:sp>
        <p:nvSpPr>
          <p:cNvPr id="4" name="">
            <a:extLst xmlns:a="http://schemas.openxmlformats.org/drawingml/2006/main">
              <a:ext uri="{FF2B5EF4-FFF2-40B4-BE49-F238E27FC236}">
                <a16:creationId xmlns:a16="http://schemas.microsoft.com/office/drawing/2014/main" id="{6C410089-CCEA-43E4-97F6-DA92B8CAA3A7}"/>
              </a:ext>
            </a:extLst>
          </p:cNvPr>
          <p:cNvSpPr>
            <a:spLocks xmlns:a="http://schemas.openxmlformats.org/drawingml/2006/main" noGrp="1"/>
          </p:cNvSpPr>
          <p:nvPr/>
        </p:nvSpPr>
        <p:spPr>
          <a:xfrm xmlns:a="http://schemas.openxmlformats.org/drawingml/2006/main">
            <a:off x="762000" y="366712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FFFFFF"/>
                </a:solidFill>
                <a:latin typeface="Calibri"/>
                <a:ea typeface="Calibri"/>
                <a:cs typeface="Calibri"/>
              </a:defRPr>
            </a:defPPr>
          </a:lstStyle>
          <a:p xmlns:a="http://schemas.openxmlformats.org/drawingml/2006/main">
            <a:pPr>
              <a:defRPr sz="3150" b="0">
                <a:solidFill>
                  <a:srgbClr val="FFFFFF"/>
                </a:solidFill>
                <a:latin typeface="Calibri"/>
                <a:ea typeface="Calibri"/>
                <a:cs typeface="Calibri"/>
              </a:defRPr>
            </a:pPr>
            <a:r>
              <a:rPr sz="3150" b="0">
                <a:solidFill>
                  <a:srgbClr val="FFFFFF"/>
                </a:solidFill>
                <a:latin typeface="Calibri"/>
                <a:ea typeface="Calibri"/>
                <a:cs typeface="Calibri"/>
              </a:rPr>
              <a:t>automated tests passed</a:t>
            </a:r>
          </a:p>
        </p:txBody>
      </p:sp>
      <p:sp>
        <p:nvSpPr>
          <p:cNvPr id="5" name="">
            <a:extLst xmlns:a="http://schemas.openxmlformats.org/drawingml/2006/main">
              <a:ext uri="{FF2B5EF4-FFF2-40B4-BE49-F238E27FC236}">
                <a16:creationId xmlns:a16="http://schemas.microsoft.com/office/drawing/2014/main" id="{0E4521E7-D4AE-4247-BC98-680107F0C385}"/>
              </a:ext>
            </a:extLst>
          </p:cNvPr>
          <p:cNvSpPr>
            <a:spLocks xmlns:a="http://schemas.openxmlformats.org/drawingml/2006/main" noGrp="1"/>
          </p:cNvSpPr>
          <p:nvPr/>
        </p:nvSpPr>
        <p:spPr>
          <a:xfrm xmlns:a="http://schemas.openxmlformats.org/drawingml/2006/main">
            <a:off x="762000" y="45434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8C9DB"/>
                </a:solidFill>
                <a:latin typeface="Calibri"/>
                <a:ea typeface="Calibri"/>
                <a:cs typeface="Calibri"/>
              </a:defRPr>
            </a:defPPr>
          </a:lstStyle>
          <a:p xmlns:a="http://schemas.openxmlformats.org/drawingml/2006/main">
            <a:pPr>
              <a:defRPr sz="2250" b="0">
                <a:solidFill>
                  <a:srgbClr val="B8C9DB"/>
                </a:solidFill>
                <a:latin typeface="Calibri"/>
                <a:ea typeface="Calibri"/>
                <a:cs typeface="Calibri"/>
              </a:defRPr>
            </a:pPr>
            <a:r>
              <a:rPr sz="2250" b="0">
                <a:solidFill>
                  <a:srgbClr val="B8C9DB"/>
                </a:solidFill>
                <a:latin typeface="Calibri"/>
                <a:ea typeface="Calibri"/>
                <a:cs typeface="Calibri"/>
              </a:rPr>
              <a:t>Expo lint and TypeScript checks passed</a:t>
            </a:r>
          </a:p>
        </p:txBody>
      </p:sp>
      <p:sp>
        <p:nvSpPr>
          <p:cNvPr id="6" name="">
            <a:extLst xmlns:a="http://schemas.openxmlformats.org/drawingml/2006/main">
              <a:ext uri="{FF2B5EF4-FFF2-40B4-BE49-F238E27FC236}">
                <a16:creationId xmlns:a16="http://schemas.microsoft.com/office/drawing/2014/main" id="{70A71364-1D83-4A5B-BFA1-5FE0C3E98599}"/>
              </a:ext>
            </a:extLst>
          </p:cNvPr>
          <p:cNvSpPr>
            <a:spLocks xmlns:a="http://schemas.openxmlformats.org/drawingml/2006/main" noGrp="1"/>
          </p:cNvSpPr>
          <p:nvPr/>
        </p:nvSpPr>
        <p:spPr>
          <a:xfrm xmlns:a="http://schemas.openxmlformats.org/drawingml/2006/main">
            <a:off x="762000" y="54006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8C9DB"/>
                </a:solidFill>
                <a:latin typeface="Calibri"/>
                <a:ea typeface="Calibri"/>
                <a:cs typeface="Calibri"/>
              </a:defRPr>
            </a:defPPr>
          </a:lstStyle>
          <a:p xmlns:a="http://schemas.openxmlformats.org/drawingml/2006/main">
            <a:pPr>
              <a:defRPr sz="2025" b="0">
                <a:solidFill>
                  <a:srgbClr val="B8C9DB"/>
                </a:solidFill>
                <a:latin typeface="Calibri"/>
                <a:ea typeface="Calibri"/>
                <a:cs typeface="Calibri"/>
              </a:defRPr>
            </a:pPr>
            <a:r>
              <a:rPr sz="2025" b="0">
                <a:solidFill>
                  <a:srgbClr val="B8C9DB"/>
                </a:solidFill>
                <a:latin typeface="Calibri"/>
                <a:ea typeface="Calibri"/>
                <a:cs typeface="Calibri"/>
              </a:rPr>
              <a:t>Device behavior and live delivery still require verification</a:t>
            </a:r>
          </a:p>
        </p:txBody>
      </p:sp>
    </p:spTree>
    <p:extLst>
      <p:ext uri="{BB962C8B-B14F-4D97-AF65-F5344CB8AC3E}">
        <p14:creationId xmlns:p14="http://schemas.microsoft.com/office/powerpoint/2010/main" val="256765854"/>
      </p:ext>
    </p:extLst>
  </p:cSld>
</p:sld>
</file>

<file path=ppt/slides/slide17.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59B9F6-9E0E-48BF-A041-096D8981D44C}"/>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Current limitations</a:t>
            </a:r>
          </a:p>
        </p:txBody>
      </p:sp>
      <p:sp>
        <p:nvSpPr>
          <p:cNvPr id="2" name="">
            <a:extLst xmlns:a="http://schemas.openxmlformats.org/drawingml/2006/main">
              <a:ext uri="{FF2B5EF4-FFF2-40B4-BE49-F238E27FC236}">
                <a16:creationId xmlns:a16="http://schemas.microsoft.com/office/drawing/2014/main" id="{38F6E9A3-A1E1-4FC5-A9E1-2C8911D989FB}"/>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17</a:t>
            </a:r>
          </a:p>
        </p:txBody>
      </p:sp>
      <p:sp>
        <p:nvSpPr>
          <p:cNvPr id="3" name="">
            <a:extLst xmlns:a="http://schemas.openxmlformats.org/drawingml/2006/main">
              <a:ext uri="{FF2B5EF4-FFF2-40B4-BE49-F238E27FC236}">
                <a16:creationId xmlns:a16="http://schemas.microsoft.com/office/drawing/2014/main" id="{31A97710-265D-42DC-8508-D281D47409E5}"/>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Clients directory</a:t>
            </a:r>
          </a:p>
        </p:txBody>
      </p:sp>
      <p:sp>
        <p:nvSpPr>
          <p:cNvPr id="4" name="">
            <a:extLst xmlns:a="http://schemas.openxmlformats.org/drawingml/2006/main">
              <a:ext uri="{FF2B5EF4-FFF2-40B4-BE49-F238E27FC236}">
                <a16:creationId xmlns:a16="http://schemas.microsoft.com/office/drawing/2014/main" id="{53001280-0540-43D0-8931-231B8EA1AD0B}"/>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current screen uses sample records.</a:t>
            </a:r>
          </a:p>
        </p:txBody>
      </p:sp>
      <p:sp>
        <p:nvSpPr>
          <p:cNvPr id="5" name="">
            <a:extLst xmlns:a="http://schemas.openxmlformats.org/drawingml/2006/main">
              <a:ext uri="{FF2B5EF4-FFF2-40B4-BE49-F238E27FC236}">
                <a16:creationId xmlns:a16="http://schemas.microsoft.com/office/drawing/2014/main" id="{E51DDBF0-EF57-485C-ACA2-72E129C35584}"/>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Payments and galleries</a:t>
            </a:r>
          </a:p>
        </p:txBody>
      </p:sp>
      <p:sp>
        <p:nvSpPr>
          <p:cNvPr id="6" name="">
            <a:extLst xmlns:a="http://schemas.openxmlformats.org/drawingml/2006/main">
              <a:ext uri="{FF2B5EF4-FFF2-40B4-BE49-F238E27FC236}">
                <a16:creationId xmlns:a16="http://schemas.microsoft.com/office/drawing/2014/main" id="{33F0394B-3ADD-4C44-80BC-EBC6C5B11763}"/>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The main app does not implement payment processing or photo delivery.</a:t>
            </a:r>
          </a:p>
        </p:txBody>
      </p:sp>
      <p:sp>
        <p:nvSpPr>
          <p:cNvPr id="7" name="">
            <a:extLst xmlns:a="http://schemas.openxmlformats.org/drawingml/2006/main">
              <a:ext uri="{FF2B5EF4-FFF2-40B4-BE49-F238E27FC236}">
                <a16:creationId xmlns:a16="http://schemas.microsoft.com/office/drawing/2014/main" id="{4554DDCE-6802-4FEF-811B-8A7AB53B4AD2}"/>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Platform coverage</a:t>
            </a:r>
          </a:p>
        </p:txBody>
      </p:sp>
      <p:sp>
        <p:nvSpPr>
          <p:cNvPr id="8" name="">
            <a:extLst xmlns:a="http://schemas.openxmlformats.org/drawingml/2006/main">
              <a:ext uri="{FF2B5EF4-FFF2-40B4-BE49-F238E27FC236}">
                <a16:creationId xmlns:a16="http://schemas.microsoft.com/office/drawing/2014/main" id="{6B3B6A66-DECC-4BF1-9D00-726A264C74A3}"/>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Google sign-in is Android specific. Device testing remains necessary.</a:t>
            </a:r>
          </a:p>
        </p:txBody>
      </p:sp>
      <p:sp>
        <p:nvSpPr>
          <p:cNvPr id="9" name="">
            <a:extLst xmlns:a="http://schemas.openxmlformats.org/drawingml/2006/main">
              <a:ext uri="{FF2B5EF4-FFF2-40B4-BE49-F238E27FC236}">
                <a16:creationId xmlns:a16="http://schemas.microsoft.com/office/drawing/2014/main" id="{F9512C30-734C-45C7-859E-FC682DF7795B}"/>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Offline use</a:t>
            </a:r>
          </a:p>
        </p:txBody>
      </p:sp>
      <p:sp>
        <p:nvSpPr>
          <p:cNvPr id="10" name="">
            <a:extLst xmlns:a="http://schemas.openxmlformats.org/drawingml/2006/main">
              <a:ext uri="{FF2B5EF4-FFF2-40B4-BE49-F238E27FC236}">
                <a16:creationId xmlns:a16="http://schemas.microsoft.com/office/drawing/2014/main" id="{3BD316C8-03FD-45B2-887F-260FBD9617CA}"/>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Authoritative bookings require connectivity. Drafts stay in memory.</a:t>
            </a:r>
          </a:p>
        </p:txBody>
      </p:sp>
    </p:spTree>
    <p:extLst>
      <p:ext uri="{BB962C8B-B14F-4D97-AF65-F5344CB8AC3E}">
        <p14:creationId xmlns:p14="http://schemas.microsoft.com/office/powerpoint/2010/main" val="1583919395"/>
      </p:ext>
    </p:extLst>
  </p:cSld>
</p:sld>
</file>

<file path=ppt/slides/slide18.xml><?xml version="1.0" encoding="utf-8"?>
<p:sld xmlns:p="http://schemas.openxmlformats.org/presentationml/2006/main">
  <p:cSld>
    <p:bg>
      <p:bgPr>
        <a:solidFill xmlns:a="http://schemas.openxmlformats.org/drawingml/2006/main">
          <a:srgbClr val="F3EE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AA39E4-B895-4F93-8D72-03BAEDE26463}"/>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C4C"/>
                </a:solidFill>
                <a:latin typeface="Calibri"/>
                <a:ea typeface="Calibri"/>
                <a:cs typeface="Calibri"/>
              </a:defRPr>
            </a:defPPr>
          </a:lstStyle>
          <a:p xmlns:a="http://schemas.openxmlformats.org/drawingml/2006/main">
            <a:pPr>
              <a:defRPr sz="3450" b="1">
                <a:solidFill>
                  <a:srgbClr val="142C4C"/>
                </a:solidFill>
                <a:latin typeface="Calibri"/>
                <a:ea typeface="Calibri"/>
                <a:cs typeface="Calibri"/>
              </a:defRPr>
            </a:pPr>
            <a:r>
              <a:rPr sz="3450" b="1">
                <a:solidFill>
                  <a:srgbClr val="142C4C"/>
                </a:solidFill>
                <a:latin typeface="Calibri"/>
                <a:ea typeface="Calibri"/>
                <a:cs typeface="Calibri"/>
              </a:rPr>
              <a:t>Demonstration sequence</a:t>
            </a:r>
          </a:p>
        </p:txBody>
      </p:sp>
      <p:sp>
        <p:nvSpPr>
          <p:cNvPr id="2" name="">
            <a:extLst xmlns:a="http://schemas.openxmlformats.org/drawingml/2006/main">
              <a:ext uri="{FF2B5EF4-FFF2-40B4-BE49-F238E27FC236}">
                <a16:creationId xmlns:a16="http://schemas.microsoft.com/office/drawing/2014/main" id="{50559EFF-58CB-4EE4-871B-A9222E051FB0}"/>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96A7D"/>
                </a:solidFill>
                <a:latin typeface="Calibri"/>
                <a:ea typeface="Calibri"/>
                <a:cs typeface="Calibri"/>
              </a:defRPr>
            </a:defPPr>
          </a:lstStyle>
          <a:p xmlns:a="http://schemas.openxmlformats.org/drawingml/2006/main">
            <a:pPr>
              <a:defRPr sz="1200" b="0">
                <a:solidFill>
                  <a:srgbClr val="596A7D"/>
                </a:solidFill>
                <a:latin typeface="Calibri"/>
                <a:ea typeface="Calibri"/>
                <a:cs typeface="Calibri"/>
              </a:defRPr>
            </a:pPr>
            <a:r>
              <a:rPr sz="1200" b="0">
                <a:solidFill>
                  <a:srgbClr val="596A7D"/>
                </a:solidFill>
                <a:latin typeface="Calibri"/>
                <a:ea typeface="Calibri"/>
                <a:cs typeface="Calibri"/>
              </a:rPr>
              <a:t>18</a:t>
            </a:r>
          </a:p>
        </p:txBody>
      </p:sp>
      <p:sp>
        <p:nvSpPr>
          <p:cNvPr id="3" name="">
            <a:extLst xmlns:a="http://schemas.openxmlformats.org/drawingml/2006/main">
              <a:ext uri="{FF2B5EF4-FFF2-40B4-BE49-F238E27FC236}">
                <a16:creationId xmlns:a16="http://schemas.microsoft.com/office/drawing/2014/main" id="{09DE0F81-0084-4784-95DF-C6A61C941F1B}"/>
              </a:ext>
            </a:extLst>
          </p:cNvPr>
          <p:cNvSpPr>
            <a:spLocks xmlns:a="http://schemas.openxmlformats.org/drawingml/2006/main" noGrp="1"/>
          </p:cNvSpPr>
          <p:nvPr/>
        </p:nvSpPr>
        <p:spPr>
          <a:xfrm xmlns:a="http://schemas.openxmlformats.org/drawingml/2006/main">
            <a:off x="704850" y="1762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Client</a:t>
            </a:r>
          </a:p>
        </p:txBody>
      </p:sp>
      <p:sp>
        <p:nvSpPr>
          <p:cNvPr id="4" name="">
            <a:extLst xmlns:a="http://schemas.openxmlformats.org/drawingml/2006/main">
              <a:ext uri="{FF2B5EF4-FFF2-40B4-BE49-F238E27FC236}">
                <a16:creationId xmlns:a16="http://schemas.microsoft.com/office/drawing/2014/main" id="{F763B1D8-57D0-4CF9-8687-C6BF5F57DA4C}"/>
              </a:ext>
            </a:extLst>
          </p:cNvPr>
          <p:cNvSpPr>
            <a:spLocks xmlns:a="http://schemas.openxmlformats.org/drawingml/2006/main" noGrp="1"/>
          </p:cNvSpPr>
          <p:nvPr/>
        </p:nvSpPr>
        <p:spPr>
          <a:xfrm xmlns:a="http://schemas.openxmlformats.org/drawingml/2006/main">
            <a:off x="4286250" y="17621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Sign in, choose a package and submit a future session request.</a:t>
            </a:r>
          </a:p>
        </p:txBody>
      </p:sp>
      <p:sp>
        <p:nvSpPr>
          <p:cNvPr id="5" name="">
            <a:extLst xmlns:a="http://schemas.openxmlformats.org/drawingml/2006/main">
              <a:ext uri="{FF2B5EF4-FFF2-40B4-BE49-F238E27FC236}">
                <a16:creationId xmlns:a16="http://schemas.microsoft.com/office/drawing/2014/main" id="{76553DB4-174F-481D-B388-2B01F1ECE94A}"/>
              </a:ext>
            </a:extLst>
          </p:cNvPr>
          <p:cNvSpPr>
            <a:spLocks xmlns:a="http://schemas.openxmlformats.org/drawingml/2006/main" noGrp="1"/>
          </p:cNvSpPr>
          <p:nvPr/>
        </p:nvSpPr>
        <p:spPr>
          <a:xfrm xmlns:a="http://schemas.openxmlformats.org/drawingml/2006/main">
            <a:off x="704850" y="2790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Photographer</a:t>
            </a:r>
          </a:p>
        </p:txBody>
      </p:sp>
      <p:sp>
        <p:nvSpPr>
          <p:cNvPr id="6" name="">
            <a:extLst xmlns:a="http://schemas.openxmlformats.org/drawingml/2006/main">
              <a:ext uri="{FF2B5EF4-FFF2-40B4-BE49-F238E27FC236}">
                <a16:creationId xmlns:a16="http://schemas.microsoft.com/office/drawing/2014/main" id="{31065E6F-53D3-48A3-92F0-9BECB2424A8F}"/>
              </a:ext>
            </a:extLst>
          </p:cNvPr>
          <p:cNvSpPr>
            <a:spLocks xmlns:a="http://schemas.openxmlformats.org/drawingml/2006/main" noGrp="1"/>
          </p:cNvSpPr>
          <p:nvPr/>
        </p:nvSpPr>
        <p:spPr>
          <a:xfrm xmlns:a="http://schemas.openxmlformats.org/drawingml/2006/main">
            <a:off x="4286250" y="27908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Open the request and confirm or reject it.</a:t>
            </a:r>
          </a:p>
        </p:txBody>
      </p:sp>
      <p:sp>
        <p:nvSpPr>
          <p:cNvPr id="7" name="">
            <a:extLst xmlns:a="http://schemas.openxmlformats.org/drawingml/2006/main">
              <a:ext uri="{FF2B5EF4-FFF2-40B4-BE49-F238E27FC236}">
                <a16:creationId xmlns:a16="http://schemas.microsoft.com/office/drawing/2014/main" id="{DC55BABD-3B10-418F-A23A-93E30A757218}"/>
              </a:ext>
            </a:extLst>
          </p:cNvPr>
          <p:cNvSpPr>
            <a:spLocks xmlns:a="http://schemas.openxmlformats.org/drawingml/2006/main" noGrp="1"/>
          </p:cNvSpPr>
          <p:nvPr/>
        </p:nvSpPr>
        <p:spPr>
          <a:xfrm xmlns:a="http://schemas.openxmlformats.org/drawingml/2006/main">
            <a:off x="704850" y="38195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Client result</a:t>
            </a:r>
          </a:p>
        </p:txBody>
      </p:sp>
      <p:sp>
        <p:nvSpPr>
          <p:cNvPr id="8" name="">
            <a:extLst xmlns:a="http://schemas.openxmlformats.org/drawingml/2006/main">
              <a:ext uri="{FF2B5EF4-FFF2-40B4-BE49-F238E27FC236}">
                <a16:creationId xmlns:a16="http://schemas.microsoft.com/office/drawing/2014/main" id="{3CA07021-AB98-4FCF-8975-C98D81D6A014}"/>
              </a:ext>
            </a:extLst>
          </p:cNvPr>
          <p:cNvSpPr>
            <a:spLocks xmlns:a="http://schemas.openxmlformats.org/drawingml/2006/main" noGrp="1"/>
          </p:cNvSpPr>
          <p:nvPr/>
        </p:nvSpPr>
        <p:spPr>
          <a:xfrm xmlns:a="http://schemas.openxmlformats.org/drawingml/2006/main">
            <a:off x="4286250" y="38195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Refresh the booking and notification inbox.</a:t>
            </a:r>
          </a:p>
        </p:txBody>
      </p:sp>
      <p:sp>
        <p:nvSpPr>
          <p:cNvPr id="9" name="">
            <a:extLst xmlns:a="http://schemas.openxmlformats.org/drawingml/2006/main">
              <a:ext uri="{FF2B5EF4-FFF2-40B4-BE49-F238E27FC236}">
                <a16:creationId xmlns:a16="http://schemas.microsoft.com/office/drawing/2014/main" id="{D3772303-E195-4A75-AADE-DC705E76F2C8}"/>
              </a:ext>
            </a:extLst>
          </p:cNvPr>
          <p:cNvSpPr>
            <a:spLocks xmlns:a="http://schemas.openxmlformats.org/drawingml/2006/main" noGrp="1"/>
          </p:cNvSpPr>
          <p:nvPr/>
        </p:nvSpPr>
        <p:spPr>
          <a:xfrm xmlns:a="http://schemas.openxmlformats.org/drawingml/2006/main">
            <a:off x="704850" y="4848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C"/>
                </a:solidFill>
                <a:latin typeface="Calibri"/>
                <a:ea typeface="Calibri"/>
                <a:cs typeface="Calibri"/>
              </a:defRPr>
            </a:defPPr>
          </a:lstStyle>
          <a:p xmlns:a="http://schemas.openxmlformats.org/drawingml/2006/main">
            <a:pPr>
              <a:defRPr sz="2175" b="1">
                <a:solidFill>
                  <a:srgbClr val="142C4C"/>
                </a:solidFill>
                <a:latin typeface="Calibri"/>
                <a:ea typeface="Calibri"/>
                <a:cs typeface="Calibri"/>
              </a:defRPr>
            </a:pPr>
            <a:r>
              <a:rPr sz="2175" b="1">
                <a:solidFill>
                  <a:srgbClr val="142C4C"/>
                </a:solidFill>
                <a:latin typeface="Calibri"/>
                <a:ea typeface="Calibri"/>
                <a:cs typeface="Calibri"/>
              </a:rPr>
              <a:t>Studio controls</a:t>
            </a:r>
          </a:p>
        </p:txBody>
      </p:sp>
      <p:sp>
        <p:nvSpPr>
          <p:cNvPr id="10" name="">
            <a:extLst xmlns:a="http://schemas.openxmlformats.org/drawingml/2006/main">
              <a:ext uri="{FF2B5EF4-FFF2-40B4-BE49-F238E27FC236}">
                <a16:creationId xmlns:a16="http://schemas.microsoft.com/office/drawing/2014/main" id="{F08755F5-AE67-4060-95E6-5E7A30976FBE}"/>
              </a:ext>
            </a:extLst>
          </p:cNvPr>
          <p:cNvSpPr>
            <a:spLocks xmlns:a="http://schemas.openxmlformats.org/drawingml/2006/main" noGrp="1"/>
          </p:cNvSpPr>
          <p:nvPr/>
        </p:nvSpPr>
        <p:spPr>
          <a:xfrm xmlns:a="http://schemas.openxmlformats.org/drawingml/2006/main">
            <a:off x="4286250" y="4848225"/>
            <a:ext cx="714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84B"/>
                </a:solidFill>
                <a:latin typeface="Calibri"/>
                <a:ea typeface="Calibri"/>
                <a:cs typeface="Calibri"/>
              </a:defRPr>
            </a:defPPr>
          </a:lstStyle>
          <a:p xmlns:a="http://schemas.openxmlformats.org/drawingml/2006/main">
            <a:pPr>
              <a:defRPr sz="2025" b="0">
                <a:solidFill>
                  <a:srgbClr val="26384B"/>
                </a:solidFill>
                <a:latin typeface="Calibri"/>
                <a:ea typeface="Calibri"/>
                <a:cs typeface="Calibri"/>
              </a:defRPr>
            </a:pPr>
            <a:r>
              <a:rPr sz="2025" b="0">
                <a:solidFill>
                  <a:srgbClr val="26384B"/>
                </a:solidFill>
                <a:latin typeface="Calibri"/>
                <a:ea typeface="Calibri"/>
                <a:cs typeface="Calibri"/>
              </a:rPr>
              <a:t>Show future availability and catalog management.</a:t>
            </a:r>
          </a:p>
        </p:txBody>
      </p:sp>
    </p:spTree>
    <p:extLst>
      <p:ext uri="{BB962C8B-B14F-4D97-AF65-F5344CB8AC3E}">
        <p14:creationId xmlns:p14="http://schemas.microsoft.com/office/powerpoint/2010/main" val="650523119"/>
      </p:ext>
    </p:extLst>
  </p:cSld>
</p:sld>
</file>

<file path=ppt/slides/slide19.xml><?xml version="1.0" encoding="utf-8"?>
<p:sld xmlns:p="http://schemas.openxmlformats.org/presentationml/2006/main">
  <p:cSld>
    <p:bg>
      <p:bgPr>
        <a:solidFill xmlns:a="http://schemas.openxmlformats.org/drawingml/2006/main">
          <a:srgbClr val="142C4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185F74-A33D-49BD-B019-958C602B22C2}"/>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Conclusion</a:t>
            </a:r>
          </a:p>
        </p:txBody>
      </p:sp>
      <p:sp>
        <p:nvSpPr>
          <p:cNvPr id="2" name="">
            <a:extLst xmlns:a="http://schemas.openxmlformats.org/drawingml/2006/main">
              <a:ext uri="{FF2B5EF4-FFF2-40B4-BE49-F238E27FC236}">
                <a16:creationId xmlns:a16="http://schemas.microsoft.com/office/drawing/2014/main" id="{E5CE82B1-0B2E-46C7-9860-2BAFABB4D63C}"/>
              </a:ext>
            </a:extLst>
          </p:cNvPr>
          <p:cNvSpPr>
            <a:spLocks xmlns:a="http://schemas.openxmlformats.org/drawingml/2006/main" noGrp="1"/>
          </p:cNvSpPr>
          <p:nvPr/>
        </p:nvSpPr>
        <p:spPr>
          <a:xfrm xmlns:a="http://schemas.openxmlformats.org/drawingml/2006/main">
            <a:off x="10953750" y="631507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C9DB"/>
                </a:solidFill>
                <a:latin typeface="Calibri"/>
                <a:ea typeface="Calibri"/>
                <a:cs typeface="Calibri"/>
              </a:defRPr>
            </a:defPPr>
          </a:lstStyle>
          <a:p xmlns:a="http://schemas.openxmlformats.org/drawingml/2006/main">
            <a:pPr>
              <a:defRPr sz="1200" b="0">
                <a:solidFill>
                  <a:srgbClr val="B8C9DB"/>
                </a:solidFill>
                <a:latin typeface="Calibri"/>
                <a:ea typeface="Calibri"/>
                <a:cs typeface="Calibri"/>
              </a:defRPr>
            </a:pPr>
            <a:r>
              <a:rPr sz="1200" b="0">
                <a:solidFill>
                  <a:srgbClr val="B8C9DB"/>
                </a:solidFill>
                <a:latin typeface="Calibri"/>
                <a:ea typeface="Calibri"/>
                <a:cs typeface="Calibri"/>
              </a:rPr>
              <a:t>19</a:t>
            </a:r>
          </a:p>
        </p:txBody>
      </p:sp>
      <p:sp>
        <p:nvSpPr>
          <p:cNvPr id="3" name="">
            <a:extLst xmlns:a="http://schemas.openxmlformats.org/drawingml/2006/main">
              <a:ext uri="{FF2B5EF4-FFF2-40B4-BE49-F238E27FC236}">
                <a16:creationId xmlns:a16="http://schemas.microsoft.com/office/drawing/2014/main" id="{9C42DF0C-3898-4384-A36B-1B1D12C2B42E}"/>
              </a:ext>
            </a:extLst>
          </p:cNvPr>
          <p:cNvSpPr>
            <a:spLocks xmlns:a="http://schemas.openxmlformats.org/drawingml/2006/main" noGrp="1"/>
          </p:cNvSpPr>
          <p:nvPr/>
        </p:nvSpPr>
        <p:spPr>
          <a:xfrm xmlns:a="http://schemas.openxmlformats.org/drawingml/2006/main">
            <a:off x="704850" y="1905000"/>
            <a:ext cx="1062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FFFFF"/>
                </a:solidFill>
                <a:latin typeface="Calibri"/>
                <a:ea typeface="Calibri"/>
                <a:cs typeface="Calibri"/>
              </a:defRPr>
            </a:defPPr>
          </a:lstStyle>
          <a:p xmlns:a="http://schemas.openxmlformats.org/drawingml/2006/main">
            <a:pPr>
              <a:defRPr sz="4200" b="1">
                <a:solidFill>
                  <a:srgbClr val="FFFFFF"/>
                </a:solidFill>
                <a:latin typeface="Calibri"/>
                <a:ea typeface="Calibri"/>
                <a:cs typeface="Calibri"/>
              </a:defRPr>
            </a:pPr>
            <a:r>
              <a:rPr sz="4200" b="1">
                <a:solidFill>
                  <a:srgbClr val="FFFFFF"/>
                </a:solidFill>
                <a:latin typeface="Calibri"/>
                <a:ea typeface="Calibri"/>
                <a:cs typeface="Calibri"/>
              </a:rPr>
              <a:t>A shared booking workflow</a:t>
            </a:r>
          </a:p>
          <a:p xmlns:a="http://schemas.openxmlformats.org/drawingml/2006/main">
            <a:pPr>
              <a:defRPr sz="4200" b="1">
                <a:solidFill>
                  <a:srgbClr val="FFFFFF"/>
                </a:solidFill>
                <a:latin typeface="Calibri"/>
                <a:ea typeface="Calibri"/>
                <a:cs typeface="Calibri"/>
              </a:defRPr>
            </a:pPr>
            <a:r>
              <a:rPr sz="4200" b="1">
                <a:solidFill>
                  <a:srgbClr val="FFFFFF"/>
                </a:solidFill>
                <a:latin typeface="Calibri"/>
                <a:ea typeface="Calibri"/>
                <a:cs typeface="Calibri"/>
              </a:rPr>
              <a:t>for clients and photographers</a:t>
            </a:r>
          </a:p>
        </p:txBody>
      </p:sp>
      <p:sp>
        <p:nvSpPr>
          <p:cNvPr id="4" name="">
            <a:extLst xmlns:a="http://schemas.openxmlformats.org/drawingml/2006/main">
              <a:ext uri="{FF2B5EF4-FFF2-40B4-BE49-F238E27FC236}">
                <a16:creationId xmlns:a16="http://schemas.microsoft.com/office/drawing/2014/main" id="{AACD0F78-21E6-43FF-91DC-03C232F847CA}"/>
              </a:ext>
            </a:extLst>
          </p:cNvPr>
          <p:cNvSpPr>
            <a:spLocks xmlns:a="http://schemas.openxmlformats.org/drawingml/2006/main" noGrp="1"/>
          </p:cNvSpPr>
          <p:nvPr/>
        </p:nvSpPr>
        <p:spPr>
          <a:xfrm xmlns:a="http://schemas.openxmlformats.org/drawingml/2006/main">
            <a:off x="742950" y="400050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8C9DB"/>
                </a:solidFill>
                <a:latin typeface="Calibri"/>
                <a:ea typeface="Calibri"/>
                <a:cs typeface="Calibri"/>
              </a:defRPr>
            </a:defPPr>
          </a:lstStyle>
          <a:p xmlns:a="http://schemas.openxmlformats.org/drawingml/2006/main">
            <a:pPr>
              <a:defRPr sz="2400" b="0">
                <a:solidFill>
                  <a:srgbClr val="B8C9DB"/>
                </a:solidFill>
                <a:latin typeface="Calibri"/>
                <a:ea typeface="Calibri"/>
                <a:cs typeface="Calibri"/>
              </a:defRPr>
            </a:pPr>
            <a:r>
              <a:rPr sz="2400" b="0">
                <a:solidFill>
                  <a:srgbClr val="B8C9DB"/>
                </a:solidFill>
                <a:latin typeface="Calibri"/>
                <a:ea typeface="Calibri"/>
                <a:cs typeface="Calibri"/>
              </a:rPr>
              <a:t>Mobile requests, studio availability and backend access controls</a:t>
            </a:r>
          </a:p>
        </p:txBody>
      </p:sp>
      <p:sp>
        <p:nvSpPr>
          <p:cNvPr id="5" name="">
            <a:extLst xmlns:a="http://schemas.openxmlformats.org/drawingml/2006/main">
              <a:ext uri="{FF2B5EF4-FFF2-40B4-BE49-F238E27FC236}">
                <a16:creationId xmlns:a16="http://schemas.microsoft.com/office/drawing/2014/main" id="{1C312516-1B3F-4732-885E-034A8C3C4B42}"/>
              </a:ext>
            </a:extLst>
          </p:cNvPr>
          <p:cNvSpPr>
            <a:spLocks xmlns:a="http://schemas.openxmlformats.org/drawingml/2006/main" noGrp="1"/>
          </p:cNvSpPr>
          <p:nvPr/>
        </p:nvSpPr>
        <p:spPr>
          <a:xfrm xmlns:a="http://schemas.openxmlformats.org/drawingml/2006/main">
            <a:off x="742950" y="55435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FFFFFF"/>
                </a:solidFill>
                <a:latin typeface="Calibri"/>
                <a:ea typeface="Calibri"/>
                <a:cs typeface="Calibri"/>
              </a:defRPr>
            </a:defPPr>
          </a:lstStyle>
          <a:p xmlns:a="http://schemas.openxmlformats.org/drawingml/2006/main">
            <a:pPr>
              <a:defRPr sz="3000" b="1">
                <a:solidFill>
                  <a:srgbClr val="FFFFFF"/>
                </a:solidFill>
                <a:latin typeface="Calibri"/>
                <a:ea typeface="Calibri"/>
                <a:cs typeface="Calibri"/>
              </a:defRPr>
            </a:pPr>
            <a:r>
              <a:rPr sz="3000" b="1">
                <a:solidFill>
                  <a:srgbClr val="FFFFFF"/>
                </a:solidFill>
                <a:latin typeface="Calibri"/>
                <a:ea typeface="Calibri"/>
                <a:cs typeface="Calibri"/>
              </a:rPr>
              <a:t>Questions</a:t>
            </a:r>
          </a:p>
        </p:txBody>
      </p:sp>
    </p:spTree>
    <p:extLst>
      <p:ext uri="{BB962C8B-B14F-4D97-AF65-F5344CB8AC3E}">
        <p14:creationId xmlns:p14="http://schemas.microsoft.com/office/powerpoint/2010/main" val="210126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2026-10-09T15:29:57.4080000Z</dcterms:created>
  <dcterms:modified xsi:type="dcterms:W3CDTF">2026-10-09T15:29:57.4080000Z</dcterms:modified>
</coreProperties>
</file>